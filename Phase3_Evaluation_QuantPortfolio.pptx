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-15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9E5E-D87C-AB69-22E8-2D067D29E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5C30C-DC9B-9381-201E-B308BA5A3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D9D5C-6DD3-314C-DCBA-1635A895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E626C-5C2D-753B-3B5E-441CA3B27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CBAA3-FF30-7D3F-92AB-1C2E7E5B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895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4D3F-78E5-9B88-50A0-C3D04B97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163F3-7683-2A12-8ACC-C33048C46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43D44-B37A-A1F6-CBA5-ED92C50E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D95E-D114-0292-7387-AE4A5162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6C7F-8643-F002-C376-8A3A311D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481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EA32-7436-92CA-DB27-0BBDE908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42B67-3BCA-568F-D204-7698B6A67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D95C-DCB1-5C5A-5DD1-D2453BAA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BBB4C-472B-6E0B-C9F1-94B8D086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F89EE-AE7B-F946-7B77-A7A90D00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7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15E5-44D7-91BD-5F99-F057369B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485D-BDF4-A9DB-8053-AA78324FD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D9BBB-E609-23CF-3A84-8D7952923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424D-7E63-6390-D4CD-5F38EB093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FFC3D-98E8-E322-E5DE-A30FADA5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4367A-080D-EC41-7978-B8041786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98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88626-48E7-78F8-0316-321011A9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40F97-24CC-7B62-B1D2-C7AEAFA9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6195A-079B-8502-5344-2EAE8DF83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56F09-4C16-81F5-CAD1-29DBF96A9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4FFE6-03E9-A923-E889-DD325FABBF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D5767-5E3C-43BD-869B-D4AC0205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55EB7-6B55-736F-1D24-66996BB1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0FCAB-B26F-0C72-B563-C4DAB34C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00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8DCF4-2F75-FCD7-F3E8-7387B9A5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B9A6B-F490-8009-3FFE-0E9BE392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D6BA4-BBA1-1455-280C-A8EE7EA2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F1BEC-7892-705A-4D6A-D0D1DC6F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53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C1D3A-D3CB-C71A-E878-1D6EFE6B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5F4A4-8F7A-E688-8653-DA0F438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0B94C-6ED0-D474-77FD-718D2ED0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49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8DF6-E6BC-E575-DACD-85C25B2A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A9C8-4FE4-D66C-24CE-28B3BE2F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D849-055E-01F5-62D4-77D65D6D2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F8667-A05F-0F87-0E74-857ECC92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10D6E-7BCA-9DF0-7994-E5C96EFF2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B6B1F-E7DB-CE85-1775-7F643889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4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9A30-91F3-7916-9029-2D29C7D6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4A84A-0B09-B046-82CB-048C07DD4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E9210-685A-02F8-EDBD-659B8B3B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2D164-C567-6D4C-05BA-66561344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4CF6B-CB8D-A54D-82F4-4645227A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7FE4A-329D-05E9-A2B0-D9DD1C0B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92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049A-46AE-4EF4-A2B8-17855232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E0427-DAEB-B692-BD36-1F40CABE8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4EFA-4E11-1401-C875-28EC6734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86C4B-8DD3-2A7D-4F3C-9A4494B5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8B3ED-4070-BC9D-F9E2-4B51FE4F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59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457B8-92DF-C956-E18A-0A41A1D4E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18AE0-BE74-FA2A-ECD6-71B8FEA0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ABECE-4B80-5CF2-08F2-EA94704C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621F5-9A07-1F3C-1382-5F4E9244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E30AD-38F6-13E1-A0F1-82837A28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13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3DAF6-6F13-8CCE-5ABB-987556E93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C211B-949A-CE3C-31FB-7E1904E5B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34349-AB7F-588E-6F75-7635EBE4E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531E7-E595-4FC4-A668-FE358B7E81B6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CF94C-EA61-52BC-CA93-1B9FAB4F1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BDCA0-019D-BB8D-40EC-41B2B23F4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F1FB5-1C00-437E-96BB-3066FFB7A3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8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4210C3-F6EF-54B1-C4C7-622C39E86BD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B17"/>
          </a:solidFill>
          <a:ln>
            <a:solidFill>
              <a:srgbClr val="2E1B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25E5FA-7767-CCCE-3DA3-0EA48B9A0B54}"/>
              </a:ext>
            </a:extLst>
          </p:cNvPr>
          <p:cNvSpPr/>
          <p:nvPr/>
        </p:nvSpPr>
        <p:spPr>
          <a:xfrm>
            <a:off x="558800" y="736600"/>
            <a:ext cx="101600" cy="34290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F8E28-1182-EC48-6072-32CEB4CD8273}"/>
              </a:ext>
            </a:extLst>
          </p:cNvPr>
          <p:cNvSpPr txBox="1"/>
          <p:nvPr/>
        </p:nvSpPr>
        <p:spPr>
          <a:xfrm>
            <a:off x="1041400" y="889000"/>
            <a:ext cx="660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6AC4E9"/>
                </a:solidFill>
                <a:latin typeface="Aptos" panose="020B0004020202020204" pitchFamily="34" charset="0"/>
              </a:rPr>
              <a:t>PHASE 3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8AA29-612A-926A-5741-D2BE4FC2464C}"/>
              </a:ext>
            </a:extLst>
          </p:cNvPr>
          <p:cNvSpPr txBox="1"/>
          <p:nvPr/>
        </p:nvSpPr>
        <p:spPr>
          <a:xfrm>
            <a:off x="1041400" y="1422400"/>
            <a:ext cx="9144000" cy="1138773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3400" b="1">
                <a:solidFill>
                  <a:srgbClr val="FFFFFF"/>
                </a:solidFill>
                <a:latin typeface="Aptos" panose="020B0004020202020204" pitchFamily="34" charset="0"/>
              </a:rPr>
              <a:t>Backtesting +
Tax-Aware Rebalancing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0AB1B-4E97-A446-5A03-AE980102DAF6}"/>
              </a:ext>
            </a:extLst>
          </p:cNvPr>
          <p:cNvSpPr txBox="1"/>
          <p:nvPr/>
        </p:nvSpPr>
        <p:spPr>
          <a:xfrm>
            <a:off x="1066800" y="3124200"/>
            <a:ext cx="7620000" cy="33855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600">
                <a:solidFill>
                  <a:srgbClr val="D6C4B7"/>
                </a:solidFill>
                <a:latin typeface="Aptos" panose="020B0004020202020204" pitchFamily="34" charset="0"/>
              </a:rPr>
              <a:t>QuantPortfolio | Major Project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6BDA71-95F5-95CA-E705-9E566EAA0C6A}"/>
              </a:ext>
            </a:extLst>
          </p:cNvPr>
          <p:cNvSpPr/>
          <p:nvPr/>
        </p:nvSpPr>
        <p:spPr>
          <a:xfrm>
            <a:off x="10541000" y="1270000"/>
            <a:ext cx="4191000" cy="3111500"/>
          </a:xfrm>
          <a:prstGeom prst="roundRect">
            <a:avLst/>
          </a:prstGeom>
          <a:solidFill>
            <a:srgbClr val="442922"/>
          </a:solidFill>
          <a:ln>
            <a:solidFill>
              <a:srgbClr val="6648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DCAE0-5BA8-A5CA-47D0-ED435C776778}"/>
              </a:ext>
            </a:extLst>
          </p:cNvPr>
          <p:cNvSpPr txBox="1"/>
          <p:nvPr/>
        </p:nvSpPr>
        <p:spPr>
          <a:xfrm>
            <a:off x="10985500" y="1676400"/>
            <a:ext cx="3175000" cy="33855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600" b="1">
                <a:solidFill>
                  <a:srgbClr val="A9B72B"/>
                </a:solidFill>
                <a:latin typeface="Aptos" panose="020B0004020202020204" pitchFamily="34" charset="0"/>
              </a:rPr>
              <a:t>PHASE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5003A-0414-47F2-66E0-AB14F8AEA482}"/>
              </a:ext>
            </a:extLst>
          </p:cNvPr>
          <p:cNvSpPr txBox="1"/>
          <p:nvPr/>
        </p:nvSpPr>
        <p:spPr>
          <a:xfrm>
            <a:off x="10985500" y="2222500"/>
            <a:ext cx="3302000" cy="80021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2300" b="1">
                <a:solidFill>
                  <a:srgbClr val="FFFFFF"/>
                </a:solidFill>
                <a:latin typeface="Aptos" panose="020B0004020202020204" pitchFamily="34" charset="0"/>
              </a:rPr>
              <a:t>Evidence-led
portfolio decisions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68800-B428-FADE-8871-3A4F245937F4}"/>
              </a:ext>
            </a:extLst>
          </p:cNvPr>
          <p:cNvSpPr txBox="1"/>
          <p:nvPr/>
        </p:nvSpPr>
        <p:spPr>
          <a:xfrm>
            <a:off x="10985500" y="3530600"/>
            <a:ext cx="3175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000">
                <a:solidFill>
                  <a:srgbClr val="D6C4B7"/>
                </a:solidFill>
                <a:latin typeface="Aptos" panose="020B0004020202020204" pitchFamily="34" charset="0"/>
              </a:rPr>
              <a:t>16-asset universe  |  252-day window  |  83 rebalance periods</a:t>
            </a:r>
            <a:endParaRPr lang="en-IN" sz="1000">
              <a:solidFill>
                <a:srgbClr val="D6C4B7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39835-810F-6C08-0FDB-7E0B9B99EEC8}"/>
              </a:ext>
            </a:extLst>
          </p:cNvPr>
          <p:cNvSpPr txBox="1"/>
          <p:nvPr/>
        </p:nvSpPr>
        <p:spPr>
          <a:xfrm>
            <a:off x="1066800" y="5969000"/>
            <a:ext cx="381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>
                <a:solidFill>
                  <a:srgbClr val="D6C4B7"/>
                </a:solidFill>
                <a:latin typeface="Aptos" panose="020B0004020202020204" pitchFamily="34" charset="0"/>
              </a:rPr>
              <a:t>23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0066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17A5D9-A7C0-9210-2D28-BF8D7828FA9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solidFill>
              <a:srgbClr val="FAF7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AC532-F88B-A3D4-DA32-1AFDB5575094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01 /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F043D-FA00-E472-00D5-99BFEE2358E4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What changed in Phase 3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69204-E1BD-C048-DBAE-6E6D0900FDB2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A focused delivery around repeatable evidence and tax-aware decisions.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FD20A0-4E56-678A-C467-6B1CE3D248FB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98440B-BB1B-067E-366F-64C218A2B4F4}"/>
              </a:ext>
            </a:extLst>
          </p:cNvPr>
          <p:cNvSpPr/>
          <p:nvPr/>
        </p:nvSpPr>
        <p:spPr>
          <a:xfrm>
            <a:off x="635000" y="2159000"/>
            <a:ext cx="4572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F1127-FD3F-24DF-D8D6-BB292E383029}"/>
              </a:ext>
            </a:extLst>
          </p:cNvPr>
          <p:cNvSpPr/>
          <p:nvPr/>
        </p:nvSpPr>
        <p:spPr>
          <a:xfrm>
            <a:off x="635000" y="2159000"/>
            <a:ext cx="63500" cy="26670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DA467-230B-A50E-8EBB-931E1C4F9C31}"/>
              </a:ext>
            </a:extLst>
          </p:cNvPr>
          <p:cNvSpPr txBox="1"/>
          <p:nvPr/>
        </p:nvSpPr>
        <p:spPr>
          <a:xfrm>
            <a:off x="863600" y="2336800"/>
            <a:ext cx="4191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Backtest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6C6500-1D20-96AF-3F11-15B95156E15D}"/>
              </a:ext>
            </a:extLst>
          </p:cNvPr>
          <p:cNvSpPr txBox="1"/>
          <p:nvPr/>
        </p:nvSpPr>
        <p:spPr>
          <a:xfrm>
            <a:off x="863600" y="2692400"/>
            <a:ext cx="4191000" cy="43088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Walk-forward simulation with monthly rebalancing, transaction costs, market regimes, and strategy comparison.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28D0E9-87F2-C267-09CE-1B4BCE440DA7}"/>
              </a:ext>
            </a:extLst>
          </p:cNvPr>
          <p:cNvSpPr/>
          <p:nvPr/>
        </p:nvSpPr>
        <p:spPr>
          <a:xfrm>
            <a:off x="5651500" y="2159000"/>
            <a:ext cx="4572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C67217-C27D-E2AC-2160-B3C0EC3FE187}"/>
              </a:ext>
            </a:extLst>
          </p:cNvPr>
          <p:cNvSpPr/>
          <p:nvPr/>
        </p:nvSpPr>
        <p:spPr>
          <a:xfrm>
            <a:off x="5651500" y="2159000"/>
            <a:ext cx="63500" cy="2667000"/>
          </a:xfrm>
          <a:prstGeom prst="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D6B85-C783-8B09-F383-302F85756D64}"/>
              </a:ext>
            </a:extLst>
          </p:cNvPr>
          <p:cNvSpPr txBox="1"/>
          <p:nvPr/>
        </p:nvSpPr>
        <p:spPr>
          <a:xfrm>
            <a:off x="5880100" y="2336800"/>
            <a:ext cx="4191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Tax-aware rebalancing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A03EA-FFFA-0746-6041-ADC6D2DF577C}"/>
              </a:ext>
            </a:extLst>
          </p:cNvPr>
          <p:cNvSpPr txBox="1"/>
          <p:nvPr/>
        </p:nvSpPr>
        <p:spPr>
          <a:xfrm>
            <a:off x="5880100" y="2692400"/>
            <a:ext cx="4191000" cy="43088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Compares no-tax, FIFO, and tax-aware lot selection using Indian capital-gains rules.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88B5F1-51E1-440F-F7F8-D9F6612158CE}"/>
              </a:ext>
            </a:extLst>
          </p:cNvPr>
          <p:cNvSpPr/>
          <p:nvPr/>
        </p:nvSpPr>
        <p:spPr>
          <a:xfrm>
            <a:off x="10668000" y="2159000"/>
            <a:ext cx="4572000" cy="2667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5B4545-5DB5-F853-43EA-93A75ED1424E}"/>
              </a:ext>
            </a:extLst>
          </p:cNvPr>
          <p:cNvSpPr/>
          <p:nvPr/>
        </p:nvSpPr>
        <p:spPr>
          <a:xfrm>
            <a:off x="10668000" y="2159000"/>
            <a:ext cx="63500" cy="2667000"/>
          </a:xfrm>
          <a:prstGeom prst="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5AE1C-5E53-9774-7A0E-9126CFA64FE9}"/>
              </a:ext>
            </a:extLst>
          </p:cNvPr>
          <p:cNvSpPr txBox="1"/>
          <p:nvPr/>
        </p:nvSpPr>
        <p:spPr>
          <a:xfrm>
            <a:off x="10896600" y="2336800"/>
            <a:ext cx="4191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Decision surface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12FCC7-1C32-5B14-1393-03B391B70E68}"/>
              </a:ext>
            </a:extLst>
          </p:cNvPr>
          <p:cNvSpPr txBox="1"/>
          <p:nvPr/>
        </p:nvSpPr>
        <p:spPr>
          <a:xfrm>
            <a:off x="10896600" y="2692400"/>
            <a:ext cx="4191000" cy="43088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Charts make return, drawdown, tax drag, recovery, and asset-class tax visible in one workflow.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E7DCCB-251D-2E2B-996F-5099A1F34EB2}"/>
              </a:ext>
            </a:extLst>
          </p:cNvPr>
          <p:cNvSpPr txBox="1"/>
          <p:nvPr/>
        </p:nvSpPr>
        <p:spPr>
          <a:xfrm>
            <a:off x="635000" y="5334000"/>
            <a:ext cx="2540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Phase 3 outcome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9AD6F-A98A-C750-5DB4-EE904107D904}"/>
              </a:ext>
            </a:extLst>
          </p:cNvPr>
          <p:cNvSpPr txBox="1"/>
          <p:nvPr/>
        </p:nvSpPr>
        <p:spPr>
          <a:xfrm>
            <a:off x="635000" y="5689600"/>
            <a:ext cx="13716000" cy="33855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600">
                <a:solidFill>
                  <a:srgbClr val="856B5F"/>
                </a:solidFill>
                <a:latin typeface="Aptos" panose="020B0004020202020204" pitchFamily="34" charset="0"/>
              </a:rPr>
              <a:t>A portfolio workflow that evaluates both investment performance and implementation friction before a rebalance is accepted.</a:t>
            </a:r>
            <a:endParaRPr lang="en-IN" sz="16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4D01B1-6188-3B2A-A52D-8334BC8E45D9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436E4A-673D-800F-5E3B-ADAF97F2F773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8898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EBCC2D-313E-5F56-08CD-1F668FB260E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FAF26-9020-188D-DE13-4258D528B80A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02 /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E6E97-E1B9-314F-67F4-F51A121DC24C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From market data to an explainable decision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2C118-000B-6914-5D52-891F804072D7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The implementation keeps data, quant engines, API contracts, and charts separated.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51AFCF-55BA-D6C7-1E8F-F19E44DA82E9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6CA7CB-FD6C-B1CD-E4EB-EDB8F517C871}"/>
              </a:ext>
            </a:extLst>
          </p:cNvPr>
          <p:cNvSpPr/>
          <p:nvPr/>
        </p:nvSpPr>
        <p:spPr>
          <a:xfrm>
            <a:off x="698500" y="2413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0549F-AE73-EBC4-4045-5A83491D6B0F}"/>
              </a:ext>
            </a:extLst>
          </p:cNvPr>
          <p:cNvSpPr/>
          <p:nvPr/>
        </p:nvSpPr>
        <p:spPr>
          <a:xfrm>
            <a:off x="698500" y="2413000"/>
            <a:ext cx="63500" cy="19050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03A746-91A0-F979-6E9D-877391F87696}"/>
              </a:ext>
            </a:extLst>
          </p:cNvPr>
          <p:cNvSpPr txBox="1"/>
          <p:nvPr/>
        </p:nvSpPr>
        <p:spPr>
          <a:xfrm>
            <a:off x="927100" y="2590800"/>
            <a:ext cx="2032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Historical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DDDB4-EDF5-8238-E61E-5DB41DD3A5B7}"/>
              </a:ext>
            </a:extLst>
          </p:cNvPr>
          <p:cNvSpPr txBox="1"/>
          <p:nvPr/>
        </p:nvSpPr>
        <p:spPr>
          <a:xfrm>
            <a:off x="927100" y="2946400"/>
            <a:ext cx="20320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Cached prices
16 assets
Yahoo refresh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B78BF3-AD64-4D09-7D3F-179F9B355C52}"/>
              </a:ext>
            </a:extLst>
          </p:cNvPr>
          <p:cNvCxnSpPr/>
          <p:nvPr/>
        </p:nvCxnSpPr>
        <p:spPr>
          <a:xfrm>
            <a:off x="3111500" y="3365500"/>
            <a:ext cx="4699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531C52-E63D-EC0A-603F-362E2D9C3016}"/>
              </a:ext>
            </a:extLst>
          </p:cNvPr>
          <p:cNvSpPr/>
          <p:nvPr/>
        </p:nvSpPr>
        <p:spPr>
          <a:xfrm>
            <a:off x="3683000" y="2413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8713B0-5E66-8AE6-3420-FC99F4CCDBAC}"/>
              </a:ext>
            </a:extLst>
          </p:cNvPr>
          <p:cNvSpPr/>
          <p:nvPr/>
        </p:nvSpPr>
        <p:spPr>
          <a:xfrm>
            <a:off x="3683000" y="2413000"/>
            <a:ext cx="63500" cy="1905000"/>
          </a:xfrm>
          <a:prstGeom prst="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39311-0BA6-4700-59B7-B6B6DE6CC38A}"/>
              </a:ext>
            </a:extLst>
          </p:cNvPr>
          <p:cNvSpPr txBox="1"/>
          <p:nvPr/>
        </p:nvSpPr>
        <p:spPr>
          <a:xfrm>
            <a:off x="3911600" y="2590800"/>
            <a:ext cx="2032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Quant engines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EF213-B758-1E5D-3561-7196A6EC955F}"/>
              </a:ext>
            </a:extLst>
          </p:cNvPr>
          <p:cNvSpPr txBox="1"/>
          <p:nvPr/>
        </p:nvSpPr>
        <p:spPr>
          <a:xfrm>
            <a:off x="3911600" y="2946400"/>
            <a:ext cx="20320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>
                <a:solidFill>
                  <a:srgbClr val="856B5F"/>
                </a:solidFill>
                <a:latin typeface="Aptos" panose="020B0004020202020204" pitchFamily="34" charset="0"/>
              </a:rPr>
              <a:t>Returns + covariance
Regimes
MVO / bandit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BD7C58-84F3-1570-56CD-16BF2B1337BD}"/>
              </a:ext>
            </a:extLst>
          </p:cNvPr>
          <p:cNvCxnSpPr/>
          <p:nvPr/>
        </p:nvCxnSpPr>
        <p:spPr>
          <a:xfrm>
            <a:off x="6096000" y="3365500"/>
            <a:ext cx="4699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7A1CE2-98FE-8C67-F74C-E3B109932D1B}"/>
              </a:ext>
            </a:extLst>
          </p:cNvPr>
          <p:cNvSpPr/>
          <p:nvPr/>
        </p:nvSpPr>
        <p:spPr>
          <a:xfrm>
            <a:off x="6667500" y="2413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A103A3-E980-801A-A902-0D7C996B0FF2}"/>
              </a:ext>
            </a:extLst>
          </p:cNvPr>
          <p:cNvSpPr/>
          <p:nvPr/>
        </p:nvSpPr>
        <p:spPr>
          <a:xfrm>
            <a:off x="6667500" y="2413000"/>
            <a:ext cx="63500" cy="1905000"/>
          </a:xfrm>
          <a:prstGeom prst="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310CCD-88C9-00EA-AAA7-5FAACA7FBD88}"/>
              </a:ext>
            </a:extLst>
          </p:cNvPr>
          <p:cNvSpPr txBox="1"/>
          <p:nvPr/>
        </p:nvSpPr>
        <p:spPr>
          <a:xfrm>
            <a:off x="6896100" y="2590800"/>
            <a:ext cx="2032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Backtest service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27EDDF-320F-5244-F864-8F4080D23ABB}"/>
              </a:ext>
            </a:extLst>
          </p:cNvPr>
          <p:cNvSpPr txBox="1"/>
          <p:nvPr/>
        </p:nvSpPr>
        <p:spPr>
          <a:xfrm>
            <a:off x="6896100" y="2946400"/>
            <a:ext cx="20320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Walk-forward
Monthly rebalance
Tax replay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1A0073-754F-1B96-92A7-12E8A1182E82}"/>
              </a:ext>
            </a:extLst>
          </p:cNvPr>
          <p:cNvCxnSpPr/>
          <p:nvPr/>
        </p:nvCxnSpPr>
        <p:spPr>
          <a:xfrm>
            <a:off x="9080500" y="3365500"/>
            <a:ext cx="4699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B641F42-9DD7-D972-7946-731193F6A6FF}"/>
              </a:ext>
            </a:extLst>
          </p:cNvPr>
          <p:cNvSpPr/>
          <p:nvPr/>
        </p:nvSpPr>
        <p:spPr>
          <a:xfrm>
            <a:off x="9652000" y="2413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9B167-A95F-EAAB-10D0-B649285EA47C}"/>
              </a:ext>
            </a:extLst>
          </p:cNvPr>
          <p:cNvSpPr/>
          <p:nvPr/>
        </p:nvSpPr>
        <p:spPr>
          <a:xfrm>
            <a:off x="9652000" y="2413000"/>
            <a:ext cx="63500" cy="19050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39D4AE-D675-D129-BFE5-8D5C00B0EE6E}"/>
              </a:ext>
            </a:extLst>
          </p:cNvPr>
          <p:cNvSpPr txBox="1"/>
          <p:nvPr/>
        </p:nvSpPr>
        <p:spPr>
          <a:xfrm>
            <a:off x="9880600" y="2590800"/>
            <a:ext cx="2032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FastAPI contract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B8EA83-27F3-A864-BB94-62BAE60BDF04}"/>
              </a:ext>
            </a:extLst>
          </p:cNvPr>
          <p:cNvSpPr txBox="1"/>
          <p:nvPr/>
        </p:nvSpPr>
        <p:spPr>
          <a:xfrm>
            <a:off x="9880600" y="2946400"/>
            <a:ext cx="20320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/api/v1/backtest/
Validated schema
Auth cookie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51A990-DF6F-A210-A76E-59A7FC81FE9F}"/>
              </a:ext>
            </a:extLst>
          </p:cNvPr>
          <p:cNvCxnSpPr/>
          <p:nvPr/>
        </p:nvCxnSpPr>
        <p:spPr>
          <a:xfrm>
            <a:off x="12065000" y="3365500"/>
            <a:ext cx="4699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78ED2D1-3A42-00F5-8694-5595847109CC}"/>
              </a:ext>
            </a:extLst>
          </p:cNvPr>
          <p:cNvSpPr/>
          <p:nvPr/>
        </p:nvSpPr>
        <p:spPr>
          <a:xfrm>
            <a:off x="12636500" y="2413000"/>
            <a:ext cx="2413000" cy="1905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BAA293-C191-E643-72FD-128219D2E7AB}"/>
              </a:ext>
            </a:extLst>
          </p:cNvPr>
          <p:cNvSpPr/>
          <p:nvPr/>
        </p:nvSpPr>
        <p:spPr>
          <a:xfrm>
            <a:off x="12636500" y="2413000"/>
            <a:ext cx="63500" cy="1905000"/>
          </a:xfrm>
          <a:prstGeom prst="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4AB42F-2133-9B7E-AC23-BCB3A24F25EA}"/>
              </a:ext>
            </a:extLst>
          </p:cNvPr>
          <p:cNvSpPr txBox="1"/>
          <p:nvPr/>
        </p:nvSpPr>
        <p:spPr>
          <a:xfrm>
            <a:off x="12865100" y="2590800"/>
            <a:ext cx="2032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React charts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0D6750-BAA7-1D2B-1E20-BD84040D4908}"/>
              </a:ext>
            </a:extLst>
          </p:cNvPr>
          <p:cNvSpPr txBox="1"/>
          <p:nvPr/>
        </p:nvSpPr>
        <p:spPr>
          <a:xfrm>
            <a:off x="12865100" y="2946400"/>
            <a:ext cx="20320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Equity + drawdown
Tax comparison
Asset-class table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83BE50-46EF-CE7C-ECF9-7EE2AE423AD4}"/>
              </a:ext>
            </a:extLst>
          </p:cNvPr>
          <p:cNvSpPr txBox="1"/>
          <p:nvPr/>
        </p:nvSpPr>
        <p:spPr>
          <a:xfrm>
            <a:off x="698500" y="5143500"/>
            <a:ext cx="13335000" cy="323165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500" b="1">
                <a:solidFill>
                  <a:srgbClr val="2E1B17"/>
                </a:solidFill>
                <a:latin typeface="Aptos" panose="020B0004020202020204" pitchFamily="34" charset="0"/>
              </a:rPr>
              <a:t>The same response powers the page and the evaluation evidence: no spreadsheet-only interpretation layer.</a:t>
            </a:r>
            <a:endParaRPr lang="en-IN" sz="15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27B6E1-D88E-0130-5E7B-910B712FF8C9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04A700-37BB-E2A8-687F-4BDB477CEF0C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7178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EA7545-6DAE-07F1-712A-5625C6B829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solidFill>
              <a:srgbClr val="FAF7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E0BCA-6B05-D1FA-4BFA-F3880C160279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03 / BACKTEST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ED17D-FDA9-58F7-4939-932921C52789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Walk-forward simulation with realistic friction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9BF7E-CDE9-3666-1BA2-1E1AB658F15A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Every rebalance uses information available at that point in time.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6A25A-4BA2-2F45-3FEB-F7BCB392FD35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B59396-0D02-14DD-24C0-CB2FF69AF30F}"/>
              </a:ext>
            </a:extLst>
          </p:cNvPr>
          <p:cNvSpPr/>
          <p:nvPr/>
        </p:nvSpPr>
        <p:spPr>
          <a:xfrm>
            <a:off x="698500" y="2540000"/>
            <a:ext cx="2159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12980E-660E-CB99-063F-EBDAC7967062}"/>
              </a:ext>
            </a:extLst>
          </p:cNvPr>
          <p:cNvSpPr/>
          <p:nvPr/>
        </p:nvSpPr>
        <p:spPr>
          <a:xfrm>
            <a:off x="901700" y="2768600"/>
            <a:ext cx="431800" cy="4318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B5FE2-CB2E-8589-9F89-1FFDED4F2EB9}"/>
              </a:ext>
            </a:extLst>
          </p:cNvPr>
          <p:cNvSpPr txBox="1"/>
          <p:nvPr/>
        </p:nvSpPr>
        <p:spPr>
          <a:xfrm>
            <a:off x="901700" y="2794000"/>
            <a:ext cx="4318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15D9F-2640-3BB5-6EF2-D50D60D8EC68}"/>
              </a:ext>
            </a:extLst>
          </p:cNvPr>
          <p:cNvSpPr txBox="1"/>
          <p:nvPr/>
        </p:nvSpPr>
        <p:spPr>
          <a:xfrm>
            <a:off x="901700" y="3352800"/>
            <a:ext cx="1778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Select window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300260-D6E6-52EA-9E87-49E3AA41F7AC}"/>
              </a:ext>
            </a:extLst>
          </p:cNvPr>
          <p:cNvSpPr txBox="1"/>
          <p:nvPr/>
        </p:nvSpPr>
        <p:spPr>
          <a:xfrm>
            <a:off x="901700" y="3644900"/>
            <a:ext cx="1778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>
                <a:solidFill>
                  <a:srgbClr val="856B5F"/>
                </a:solidFill>
                <a:latin typeface="Aptos" panose="020B0004020202020204" pitchFamily="34" charset="0"/>
              </a:rPr>
              <a:t>252 trading days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6B91EA-B3D3-E29D-086C-1C8E9D3D13CE}"/>
              </a:ext>
            </a:extLst>
          </p:cNvPr>
          <p:cNvCxnSpPr/>
          <p:nvPr/>
        </p:nvCxnSpPr>
        <p:spPr>
          <a:xfrm>
            <a:off x="2857500" y="3251200"/>
            <a:ext cx="7112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263980-76F6-EDE0-C130-920F0A7C0311}"/>
              </a:ext>
            </a:extLst>
          </p:cNvPr>
          <p:cNvSpPr/>
          <p:nvPr/>
        </p:nvSpPr>
        <p:spPr>
          <a:xfrm>
            <a:off x="3683000" y="2540000"/>
            <a:ext cx="2159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16AE3E-A83B-2082-181D-BBD6BA9C8387}"/>
              </a:ext>
            </a:extLst>
          </p:cNvPr>
          <p:cNvSpPr/>
          <p:nvPr/>
        </p:nvSpPr>
        <p:spPr>
          <a:xfrm>
            <a:off x="3886200" y="2768600"/>
            <a:ext cx="431800" cy="431800"/>
          </a:xfrm>
          <a:prstGeom prst="round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C60C50-6C12-F498-20DD-57022B7FCD07}"/>
              </a:ext>
            </a:extLst>
          </p:cNvPr>
          <p:cNvSpPr txBox="1"/>
          <p:nvPr/>
        </p:nvSpPr>
        <p:spPr>
          <a:xfrm>
            <a:off x="3886200" y="2794000"/>
            <a:ext cx="4318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B24DA9-FECA-78C5-D94B-E142B9EC0FF4}"/>
              </a:ext>
            </a:extLst>
          </p:cNvPr>
          <p:cNvSpPr txBox="1"/>
          <p:nvPr/>
        </p:nvSpPr>
        <p:spPr>
          <a:xfrm>
            <a:off x="3886200" y="3352800"/>
            <a:ext cx="1778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Estimate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FA7026-A1A5-443E-A2B1-4294CB99C07E}"/>
              </a:ext>
            </a:extLst>
          </p:cNvPr>
          <p:cNvSpPr txBox="1"/>
          <p:nvPr/>
        </p:nvSpPr>
        <p:spPr>
          <a:xfrm>
            <a:off x="3886200" y="3644900"/>
            <a:ext cx="1778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>
                <a:solidFill>
                  <a:srgbClr val="856B5F"/>
                </a:solidFill>
                <a:latin typeface="Aptos" panose="020B0004020202020204" pitchFamily="34" charset="0"/>
              </a:rPr>
              <a:t>Returns, covariance, regime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467ECF-A1E0-579A-9E23-E0FE958A06C4}"/>
              </a:ext>
            </a:extLst>
          </p:cNvPr>
          <p:cNvCxnSpPr/>
          <p:nvPr/>
        </p:nvCxnSpPr>
        <p:spPr>
          <a:xfrm>
            <a:off x="5842000" y="3251200"/>
            <a:ext cx="7112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16F7E1-7F2F-7017-5512-B52A9E3BCFFC}"/>
              </a:ext>
            </a:extLst>
          </p:cNvPr>
          <p:cNvSpPr/>
          <p:nvPr/>
        </p:nvSpPr>
        <p:spPr>
          <a:xfrm>
            <a:off x="6667500" y="2540000"/>
            <a:ext cx="2159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9097E74-5DF5-C498-B17D-43BA1649FE12}"/>
              </a:ext>
            </a:extLst>
          </p:cNvPr>
          <p:cNvSpPr/>
          <p:nvPr/>
        </p:nvSpPr>
        <p:spPr>
          <a:xfrm>
            <a:off x="6870700" y="2768600"/>
            <a:ext cx="431800" cy="431800"/>
          </a:xfrm>
          <a:prstGeom prst="round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006429-598C-5E43-8957-4F10D5C2FD85}"/>
              </a:ext>
            </a:extLst>
          </p:cNvPr>
          <p:cNvSpPr txBox="1"/>
          <p:nvPr/>
        </p:nvSpPr>
        <p:spPr>
          <a:xfrm>
            <a:off x="6870700" y="2794000"/>
            <a:ext cx="4318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D62F49-F1FD-F0CA-E81C-3882F567E725}"/>
              </a:ext>
            </a:extLst>
          </p:cNvPr>
          <p:cNvSpPr txBox="1"/>
          <p:nvPr/>
        </p:nvSpPr>
        <p:spPr>
          <a:xfrm>
            <a:off x="6870700" y="3352800"/>
            <a:ext cx="1778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Allocate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138857-BDD1-5457-0627-AD64E5815786}"/>
              </a:ext>
            </a:extLst>
          </p:cNvPr>
          <p:cNvSpPr txBox="1"/>
          <p:nvPr/>
        </p:nvSpPr>
        <p:spPr>
          <a:xfrm>
            <a:off x="6870700" y="3644900"/>
            <a:ext cx="1778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>
                <a:solidFill>
                  <a:srgbClr val="856B5F"/>
                </a:solidFill>
                <a:latin typeface="Aptos" panose="020B0004020202020204" pitchFamily="34" charset="0"/>
              </a:rPr>
              <a:t>Five strategy variants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07ED83-AB96-BB21-4595-6C67712327B0}"/>
              </a:ext>
            </a:extLst>
          </p:cNvPr>
          <p:cNvCxnSpPr/>
          <p:nvPr/>
        </p:nvCxnSpPr>
        <p:spPr>
          <a:xfrm>
            <a:off x="8826500" y="3251200"/>
            <a:ext cx="7112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141254-1502-5B99-8AB0-7E3F7A8805AD}"/>
              </a:ext>
            </a:extLst>
          </p:cNvPr>
          <p:cNvSpPr/>
          <p:nvPr/>
        </p:nvSpPr>
        <p:spPr>
          <a:xfrm>
            <a:off x="9652000" y="2540000"/>
            <a:ext cx="2159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2B4F98-29B6-298B-D262-96BCEF451778}"/>
              </a:ext>
            </a:extLst>
          </p:cNvPr>
          <p:cNvSpPr/>
          <p:nvPr/>
        </p:nvSpPr>
        <p:spPr>
          <a:xfrm>
            <a:off x="9855200" y="2768600"/>
            <a:ext cx="431800" cy="4318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9FEE92-6999-A046-AEB2-DA5A2CA920AC}"/>
              </a:ext>
            </a:extLst>
          </p:cNvPr>
          <p:cNvSpPr txBox="1"/>
          <p:nvPr/>
        </p:nvSpPr>
        <p:spPr>
          <a:xfrm>
            <a:off x="9855200" y="2794000"/>
            <a:ext cx="4318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C17A3B-B55B-7B64-597D-DED3DD555A5E}"/>
              </a:ext>
            </a:extLst>
          </p:cNvPr>
          <p:cNvSpPr txBox="1"/>
          <p:nvPr/>
        </p:nvSpPr>
        <p:spPr>
          <a:xfrm>
            <a:off x="9855200" y="3352800"/>
            <a:ext cx="1778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Rebalance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133A0-6CD4-0DE3-3540-9FC1C47A0C51}"/>
              </a:ext>
            </a:extLst>
          </p:cNvPr>
          <p:cNvSpPr txBox="1"/>
          <p:nvPr/>
        </p:nvSpPr>
        <p:spPr>
          <a:xfrm>
            <a:off x="9855200" y="3644900"/>
            <a:ext cx="1778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>
                <a:solidFill>
                  <a:srgbClr val="856B5F"/>
                </a:solidFill>
                <a:latin typeface="Aptos" panose="020B0004020202020204" pitchFamily="34" charset="0"/>
              </a:rPr>
              <a:t>Monthly + 10 bps cost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474D21-F420-0A27-7C58-1B3CD551B3F3}"/>
              </a:ext>
            </a:extLst>
          </p:cNvPr>
          <p:cNvCxnSpPr/>
          <p:nvPr/>
        </p:nvCxnSpPr>
        <p:spPr>
          <a:xfrm>
            <a:off x="11811000" y="3251200"/>
            <a:ext cx="7112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7BF7710-3A45-20F6-7AEE-9711865BC5C3}"/>
              </a:ext>
            </a:extLst>
          </p:cNvPr>
          <p:cNvSpPr/>
          <p:nvPr/>
        </p:nvSpPr>
        <p:spPr>
          <a:xfrm>
            <a:off x="12636500" y="2540000"/>
            <a:ext cx="2159000" cy="1422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368B6AC-21EB-BFF3-DF70-8847A75C1BBB}"/>
              </a:ext>
            </a:extLst>
          </p:cNvPr>
          <p:cNvSpPr/>
          <p:nvPr/>
        </p:nvSpPr>
        <p:spPr>
          <a:xfrm>
            <a:off x="12839700" y="2768600"/>
            <a:ext cx="431800" cy="431800"/>
          </a:xfrm>
          <a:prstGeom prst="round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40022B-A881-3E34-8D56-123DC97BB759}"/>
              </a:ext>
            </a:extLst>
          </p:cNvPr>
          <p:cNvSpPr txBox="1"/>
          <p:nvPr/>
        </p:nvSpPr>
        <p:spPr>
          <a:xfrm>
            <a:off x="12839700" y="2794000"/>
            <a:ext cx="4318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8E6F88-555D-B5B9-5D80-96167188509A}"/>
              </a:ext>
            </a:extLst>
          </p:cNvPr>
          <p:cNvSpPr txBox="1"/>
          <p:nvPr/>
        </p:nvSpPr>
        <p:spPr>
          <a:xfrm>
            <a:off x="12839700" y="3352800"/>
            <a:ext cx="1778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BAF375-A547-4ABD-9749-28D6DBE86DA2}"/>
              </a:ext>
            </a:extLst>
          </p:cNvPr>
          <p:cNvSpPr txBox="1"/>
          <p:nvPr/>
        </p:nvSpPr>
        <p:spPr>
          <a:xfrm>
            <a:off x="12839700" y="3644900"/>
            <a:ext cx="1778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>
                <a:solidFill>
                  <a:srgbClr val="856B5F"/>
                </a:solidFill>
                <a:latin typeface="Aptos" panose="020B0004020202020204" pitchFamily="34" charset="0"/>
              </a:rPr>
              <a:t>CAGR, Sharpe, drawdown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28F1F4-FF49-DD2C-0F8D-A33E40E97C42}"/>
              </a:ext>
            </a:extLst>
          </p:cNvPr>
          <p:cNvSpPr txBox="1"/>
          <p:nvPr/>
        </p:nvSpPr>
        <p:spPr>
          <a:xfrm>
            <a:off x="698500" y="4826000"/>
            <a:ext cx="2540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Controls implemented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ED62A2-16F8-AA63-E295-56F9D8F2CE70}"/>
              </a:ext>
            </a:extLst>
          </p:cNvPr>
          <p:cNvSpPr txBox="1"/>
          <p:nvPr/>
        </p:nvSpPr>
        <p:spPr>
          <a:xfrm>
            <a:off x="698500" y="5207000"/>
            <a:ext cx="13970000" cy="30480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400">
                <a:solidFill>
                  <a:srgbClr val="856B5F"/>
                </a:solidFill>
                <a:latin typeface="Aptos" panose="020B0004020202020204" pitchFamily="34" charset="0"/>
              </a:rPr>
              <a:t>No lookahead  •  transaction costs  •  regime labels  •  cached reproducible dataset  •  significance vs baseline</a:t>
            </a:r>
            <a:endParaRPr lang="en-IN" sz="14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03F578-10CF-1462-D632-B97864CA13EA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414119-25A6-E586-539D-09619C5843D5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6184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94D1F8-D635-85E5-B044-810253F6B9A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0838E-F6D8-ECCC-25BA-03F6CB669505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04 /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3D2CB-6A20-E19A-7842-D00B7DA52EE6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2800" b="1">
                <a:solidFill>
                  <a:srgbClr val="2E1B17"/>
                </a:solidFill>
                <a:latin typeface="Aptos" panose="020B0004020202020204" pitchFamily="34" charset="0"/>
              </a:rPr>
              <a:t>Strategy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A7008-804B-9658-4499-0380258B792E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Verified live run: 16 assets, 252-day lookback, 10 bps transaction cost.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84558-D3AE-EF3B-91E9-FC64C675B1C6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65772-1C5A-E5BD-9C9C-F27E20BDFD43}"/>
              </a:ext>
            </a:extLst>
          </p:cNvPr>
          <p:cNvSpPr txBox="1"/>
          <p:nvPr/>
        </p:nvSpPr>
        <p:spPr>
          <a:xfrm>
            <a:off x="762000" y="21590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Equal weight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B3E729-93C7-B366-D950-83E49A167EC7}"/>
              </a:ext>
            </a:extLst>
          </p:cNvPr>
          <p:cNvSpPr/>
          <p:nvPr/>
        </p:nvSpPr>
        <p:spPr>
          <a:xfrm>
            <a:off x="2540000" y="21844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8D903A-2903-3F3C-9A4E-4056C0362A06}"/>
              </a:ext>
            </a:extLst>
          </p:cNvPr>
          <p:cNvSpPr/>
          <p:nvPr/>
        </p:nvSpPr>
        <p:spPr>
          <a:xfrm>
            <a:off x="2540000" y="2184400"/>
            <a:ext cx="4347580" cy="177800"/>
          </a:xfrm>
          <a:prstGeom prst="roundRect">
            <a:avLst/>
          </a:prstGeom>
          <a:solidFill>
            <a:srgbClr val="856B5F"/>
          </a:solidFill>
          <a:ln>
            <a:solidFill>
              <a:srgbClr val="856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83663-920E-40D4-3D5F-74EFA526A430}"/>
              </a:ext>
            </a:extLst>
          </p:cNvPr>
          <p:cNvSpPr txBox="1"/>
          <p:nvPr/>
        </p:nvSpPr>
        <p:spPr>
          <a:xfrm>
            <a:off x="7493000" y="21590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10.67% CAGR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A9873-25FE-4E6A-D41B-64DF0156BDD2}"/>
              </a:ext>
            </a:extLst>
          </p:cNvPr>
          <p:cNvSpPr txBox="1"/>
          <p:nvPr/>
        </p:nvSpPr>
        <p:spPr>
          <a:xfrm>
            <a:off x="762000" y="27686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Static MVO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CFDDF3-27DA-A223-98C1-C0B302827841}"/>
              </a:ext>
            </a:extLst>
          </p:cNvPr>
          <p:cNvSpPr/>
          <p:nvPr/>
        </p:nvSpPr>
        <p:spPr>
          <a:xfrm>
            <a:off x="2540000" y="27940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BC7249-3528-DC2B-4452-A46AB80320A0}"/>
              </a:ext>
            </a:extLst>
          </p:cNvPr>
          <p:cNvSpPr/>
          <p:nvPr/>
        </p:nvSpPr>
        <p:spPr>
          <a:xfrm>
            <a:off x="2540000" y="2794000"/>
            <a:ext cx="2489571" cy="177800"/>
          </a:xfrm>
          <a:prstGeom prst="roundRect">
            <a:avLst/>
          </a:prstGeom>
          <a:solidFill>
            <a:srgbClr val="C4B4A9"/>
          </a:solidFill>
          <a:ln>
            <a:solidFill>
              <a:srgbClr val="C4B4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16E4E-6E3D-81CB-10D5-E84CF8E19D3A}"/>
              </a:ext>
            </a:extLst>
          </p:cNvPr>
          <p:cNvSpPr txBox="1"/>
          <p:nvPr/>
        </p:nvSpPr>
        <p:spPr>
          <a:xfrm>
            <a:off x="7493000" y="27686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6.11% CAGR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C0A85E-0F39-A079-9F85-E88BA358AB83}"/>
              </a:ext>
            </a:extLst>
          </p:cNvPr>
          <p:cNvSpPr txBox="1"/>
          <p:nvPr/>
        </p:nvSpPr>
        <p:spPr>
          <a:xfrm>
            <a:off x="762000" y="33782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Ledoit-Wolf MVO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9FC95B-120E-F5B9-1FCF-79D37D08C2FF}"/>
              </a:ext>
            </a:extLst>
          </p:cNvPr>
          <p:cNvSpPr/>
          <p:nvPr/>
        </p:nvSpPr>
        <p:spPr>
          <a:xfrm>
            <a:off x="2540000" y="34036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6887A25-DB22-D37F-3B50-344BDB9B1E37}"/>
              </a:ext>
            </a:extLst>
          </p:cNvPr>
          <p:cNvSpPr/>
          <p:nvPr/>
        </p:nvSpPr>
        <p:spPr>
          <a:xfrm>
            <a:off x="2540000" y="3403600"/>
            <a:ext cx="2587361" cy="177800"/>
          </a:xfrm>
          <a:prstGeom prst="roundRect">
            <a:avLst/>
          </a:prstGeom>
          <a:solidFill>
            <a:srgbClr val="B8A68F"/>
          </a:solidFill>
          <a:ln>
            <a:solidFill>
              <a:srgbClr val="B8A6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2E7684-23F1-6B1F-76A6-D77F42D38A34}"/>
              </a:ext>
            </a:extLst>
          </p:cNvPr>
          <p:cNvSpPr txBox="1"/>
          <p:nvPr/>
        </p:nvSpPr>
        <p:spPr>
          <a:xfrm>
            <a:off x="7493000" y="33782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6.35% CAGR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592B6C-B794-66DB-571B-20BD88EF907C}"/>
              </a:ext>
            </a:extLst>
          </p:cNvPr>
          <p:cNvSpPr txBox="1"/>
          <p:nvPr/>
        </p:nvSpPr>
        <p:spPr>
          <a:xfrm>
            <a:off x="762000" y="39878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Full pipeline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5343CF-73B5-C80F-CB77-CFD42FB2D03B}"/>
              </a:ext>
            </a:extLst>
          </p:cNvPr>
          <p:cNvSpPr/>
          <p:nvPr/>
        </p:nvSpPr>
        <p:spPr>
          <a:xfrm>
            <a:off x="2540000" y="40132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057C65-0DDE-4785-A3B8-D76B58B9A337}"/>
              </a:ext>
            </a:extLst>
          </p:cNvPr>
          <p:cNvSpPr/>
          <p:nvPr/>
        </p:nvSpPr>
        <p:spPr>
          <a:xfrm>
            <a:off x="2540000" y="4013200"/>
            <a:ext cx="4657249" cy="1778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7DB77-0967-DB0A-3DCC-F2A1AD9FC8B3}"/>
              </a:ext>
            </a:extLst>
          </p:cNvPr>
          <p:cNvSpPr txBox="1"/>
          <p:nvPr/>
        </p:nvSpPr>
        <p:spPr>
          <a:xfrm>
            <a:off x="7493000" y="39878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11.43% CAGR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72577-53FA-F6CE-5630-7CA75626C009}"/>
              </a:ext>
            </a:extLst>
          </p:cNvPr>
          <p:cNvSpPr txBox="1"/>
          <p:nvPr/>
        </p:nvSpPr>
        <p:spPr>
          <a:xfrm>
            <a:off x="762000" y="45974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Adaptive bandit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44C873-BE0A-FDD7-A89A-616294D66627}"/>
              </a:ext>
            </a:extLst>
          </p:cNvPr>
          <p:cNvSpPr/>
          <p:nvPr/>
        </p:nvSpPr>
        <p:spPr>
          <a:xfrm>
            <a:off x="2540000" y="46228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7A845EF-E6B2-0F8F-8D20-96324C818020}"/>
              </a:ext>
            </a:extLst>
          </p:cNvPr>
          <p:cNvSpPr/>
          <p:nvPr/>
        </p:nvSpPr>
        <p:spPr>
          <a:xfrm>
            <a:off x="2540000" y="4622800"/>
            <a:ext cx="2880730" cy="177800"/>
          </a:xfrm>
          <a:prstGeom prst="round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6D90EF-34D6-F509-9860-1342A8C4492C}"/>
              </a:ext>
            </a:extLst>
          </p:cNvPr>
          <p:cNvSpPr txBox="1"/>
          <p:nvPr/>
        </p:nvSpPr>
        <p:spPr>
          <a:xfrm>
            <a:off x="7493000" y="45974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7.07% CAGR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E630209-EFFA-A335-1CC6-7CF9D2D42984}"/>
              </a:ext>
            </a:extLst>
          </p:cNvPr>
          <p:cNvSpPr/>
          <p:nvPr/>
        </p:nvSpPr>
        <p:spPr>
          <a:xfrm>
            <a:off x="9334500" y="21590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202B7F-D92F-725D-2255-042FC829B885}"/>
              </a:ext>
            </a:extLst>
          </p:cNvPr>
          <p:cNvSpPr/>
          <p:nvPr/>
        </p:nvSpPr>
        <p:spPr>
          <a:xfrm>
            <a:off x="9334500" y="2159000"/>
            <a:ext cx="63500" cy="11684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A6EC0E-CE4E-7D26-AAEE-AEC2A01A0F27}"/>
              </a:ext>
            </a:extLst>
          </p:cNvPr>
          <p:cNvSpPr txBox="1"/>
          <p:nvPr/>
        </p:nvSpPr>
        <p:spPr>
          <a:xfrm>
            <a:off x="9563100" y="2336800"/>
            <a:ext cx="5080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Best CAGR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BDF16A-02F2-E1F3-B47F-61F8C201191E}"/>
              </a:ext>
            </a:extLst>
          </p:cNvPr>
          <p:cNvSpPr txBox="1"/>
          <p:nvPr/>
        </p:nvSpPr>
        <p:spPr>
          <a:xfrm>
            <a:off x="9563100" y="2692400"/>
            <a:ext cx="5080000" cy="43088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Full pipeline: 11.43%
+0.77 pp vs equal weight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CF578D-D162-DA34-7648-BDC949C528E1}"/>
              </a:ext>
            </a:extLst>
          </p:cNvPr>
          <p:cNvSpPr/>
          <p:nvPr/>
        </p:nvSpPr>
        <p:spPr>
          <a:xfrm>
            <a:off x="9334500" y="35814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7B2A24-1A31-DC1E-DC33-4155ACF752EC}"/>
              </a:ext>
            </a:extLst>
          </p:cNvPr>
          <p:cNvSpPr/>
          <p:nvPr/>
        </p:nvSpPr>
        <p:spPr>
          <a:xfrm>
            <a:off x="9334500" y="3581400"/>
            <a:ext cx="63500" cy="1168400"/>
          </a:xfrm>
          <a:prstGeom prst="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C8D344-366C-EE6E-5F3E-EEDE06C41572}"/>
              </a:ext>
            </a:extLst>
          </p:cNvPr>
          <p:cNvSpPr txBox="1"/>
          <p:nvPr/>
        </p:nvSpPr>
        <p:spPr>
          <a:xfrm>
            <a:off x="9563100" y="3759200"/>
            <a:ext cx="5080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Best Sharpe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D97BC6-8D57-0EAD-0313-71B6A1D84F10}"/>
              </a:ext>
            </a:extLst>
          </p:cNvPr>
          <p:cNvSpPr txBox="1"/>
          <p:nvPr/>
        </p:nvSpPr>
        <p:spPr>
          <a:xfrm>
            <a:off x="9563100" y="4114800"/>
            <a:ext cx="5080000" cy="43088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Full pipeline: 0.42
Equal weight: 0.38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9B6FB4F-22C2-C4F7-5E79-42F1B91647F7}"/>
              </a:ext>
            </a:extLst>
          </p:cNvPr>
          <p:cNvSpPr/>
          <p:nvPr/>
        </p:nvSpPr>
        <p:spPr>
          <a:xfrm>
            <a:off x="9334500" y="5003800"/>
            <a:ext cx="54610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7D1CD65-EEDF-BB60-9445-FADCB4FCFC58}"/>
              </a:ext>
            </a:extLst>
          </p:cNvPr>
          <p:cNvSpPr/>
          <p:nvPr/>
        </p:nvSpPr>
        <p:spPr>
          <a:xfrm>
            <a:off x="9334500" y="5003800"/>
            <a:ext cx="63500" cy="1168400"/>
          </a:xfrm>
          <a:prstGeom prst="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13FBBD-5017-DCC9-DD6A-1C93A997AAA4}"/>
              </a:ext>
            </a:extLst>
          </p:cNvPr>
          <p:cNvSpPr txBox="1"/>
          <p:nvPr/>
        </p:nvSpPr>
        <p:spPr>
          <a:xfrm>
            <a:off x="9563100" y="5181600"/>
            <a:ext cx="5080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Trade-off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4B5499-3107-5DA7-BBC9-CF33E98894F4}"/>
              </a:ext>
            </a:extLst>
          </p:cNvPr>
          <p:cNvSpPr txBox="1"/>
          <p:nvPr/>
        </p:nvSpPr>
        <p:spPr>
          <a:xfrm>
            <a:off x="9563100" y="5537200"/>
            <a:ext cx="5080000" cy="43088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>
                <a:solidFill>
                  <a:srgbClr val="856B5F"/>
                </a:solidFill>
                <a:latin typeface="Aptos" panose="020B0004020202020204" pitchFamily="34" charset="0"/>
              </a:rPr>
              <a:t>Full pipeline turnover: 3.62%
vs 25.49% static MVO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B4BEB2-0001-6AF8-C05F-5E27C9EBC02E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1DF70F-C24D-B3A8-A361-1E22163BF740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7025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3BB2D8-AABD-13BE-3EB2-0BD54398082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solidFill>
              <a:srgbClr val="FAF7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BBB17-0849-9F8D-BD86-437A8B5B254D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05 / RISK LENS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A9665-CE8B-F6DF-1172-588B882DB52F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Returns are only half the result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02035-E7AE-10ED-91B8-0428B9678E67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The dashboard makes downside behavior visible alongside growth.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EA447-8DE7-63DB-4453-AD11B3AD3458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49F93-38F4-B3FD-49ED-D4803E1EE0B8}"/>
              </a:ext>
            </a:extLst>
          </p:cNvPr>
          <p:cNvSpPr txBox="1"/>
          <p:nvPr/>
        </p:nvSpPr>
        <p:spPr>
          <a:xfrm>
            <a:off x="762000" y="21590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Equal weight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065E7B-F63D-3C9D-74DF-A5DDCDD1A18B}"/>
              </a:ext>
            </a:extLst>
          </p:cNvPr>
          <p:cNvSpPr/>
          <p:nvPr/>
        </p:nvSpPr>
        <p:spPr>
          <a:xfrm>
            <a:off x="2540000" y="21844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576EB6-D032-733C-1071-071B548737E2}"/>
              </a:ext>
            </a:extLst>
          </p:cNvPr>
          <p:cNvSpPr/>
          <p:nvPr/>
        </p:nvSpPr>
        <p:spPr>
          <a:xfrm>
            <a:off x="2540000" y="2184400"/>
            <a:ext cx="2991998" cy="177800"/>
          </a:xfrm>
          <a:prstGeom prst="roundRect">
            <a:avLst/>
          </a:prstGeom>
          <a:solidFill>
            <a:srgbClr val="856B5F"/>
          </a:solidFill>
          <a:ln>
            <a:solidFill>
              <a:srgbClr val="856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18C144-781E-7D06-251F-9BCAA43DA8C1}"/>
              </a:ext>
            </a:extLst>
          </p:cNvPr>
          <p:cNvSpPr txBox="1"/>
          <p:nvPr/>
        </p:nvSpPr>
        <p:spPr>
          <a:xfrm>
            <a:off x="7493000" y="21590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31.82% max 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344F3-7613-04F1-746C-EA80D93B45D4}"/>
              </a:ext>
            </a:extLst>
          </p:cNvPr>
          <p:cNvSpPr txBox="1"/>
          <p:nvPr/>
        </p:nvSpPr>
        <p:spPr>
          <a:xfrm>
            <a:off x="762000" y="27686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Static MVO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5190DF-DB15-C57D-F40B-87FD0EF422EB}"/>
              </a:ext>
            </a:extLst>
          </p:cNvPr>
          <p:cNvSpPr/>
          <p:nvPr/>
        </p:nvSpPr>
        <p:spPr>
          <a:xfrm>
            <a:off x="2540000" y="27940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EB5D9B-18DA-4055-65C8-1F3B1E32B5EE}"/>
              </a:ext>
            </a:extLst>
          </p:cNvPr>
          <p:cNvSpPr/>
          <p:nvPr/>
        </p:nvSpPr>
        <p:spPr>
          <a:xfrm>
            <a:off x="2540000" y="2794000"/>
            <a:ext cx="4613055" cy="177800"/>
          </a:xfrm>
          <a:prstGeom prst="roundRect">
            <a:avLst/>
          </a:prstGeom>
          <a:solidFill>
            <a:srgbClr val="C4B4A9"/>
          </a:solidFill>
          <a:ln>
            <a:solidFill>
              <a:srgbClr val="C4B4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7A6FE-6397-FA80-9958-17A74AFF8483}"/>
              </a:ext>
            </a:extLst>
          </p:cNvPr>
          <p:cNvSpPr txBox="1"/>
          <p:nvPr/>
        </p:nvSpPr>
        <p:spPr>
          <a:xfrm>
            <a:off x="7493000" y="27686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49.06% max DD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18FD16-0F8E-B7F9-85E7-52C661D573E6}"/>
              </a:ext>
            </a:extLst>
          </p:cNvPr>
          <p:cNvSpPr txBox="1"/>
          <p:nvPr/>
        </p:nvSpPr>
        <p:spPr>
          <a:xfrm>
            <a:off x="762000" y="33782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Ledoit-Wolf MVO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DA7A16-7D10-6B36-C273-3B0B4004F638}"/>
              </a:ext>
            </a:extLst>
          </p:cNvPr>
          <p:cNvSpPr/>
          <p:nvPr/>
        </p:nvSpPr>
        <p:spPr>
          <a:xfrm>
            <a:off x="2540000" y="34036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C9BC9C-99F3-60E4-866B-464DADB600DC}"/>
              </a:ext>
            </a:extLst>
          </p:cNvPr>
          <p:cNvSpPr/>
          <p:nvPr/>
        </p:nvSpPr>
        <p:spPr>
          <a:xfrm>
            <a:off x="2540000" y="3403600"/>
            <a:ext cx="4635622" cy="177800"/>
          </a:xfrm>
          <a:prstGeom prst="roundRect">
            <a:avLst/>
          </a:prstGeom>
          <a:solidFill>
            <a:srgbClr val="B8A68F"/>
          </a:solidFill>
          <a:ln>
            <a:solidFill>
              <a:srgbClr val="B8A6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088CCE-DE50-BF39-0D45-F5C80FA29974}"/>
              </a:ext>
            </a:extLst>
          </p:cNvPr>
          <p:cNvSpPr txBox="1"/>
          <p:nvPr/>
        </p:nvSpPr>
        <p:spPr>
          <a:xfrm>
            <a:off x="7493000" y="33782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49.30% max DD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C948CB-C1AA-A3AA-99EF-F65DB2669898}"/>
              </a:ext>
            </a:extLst>
          </p:cNvPr>
          <p:cNvSpPr txBox="1"/>
          <p:nvPr/>
        </p:nvSpPr>
        <p:spPr>
          <a:xfrm>
            <a:off x="762000" y="39878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Full pipeline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43A24F-28BB-7F02-5332-5D30D2F0C85E}"/>
              </a:ext>
            </a:extLst>
          </p:cNvPr>
          <p:cNvSpPr/>
          <p:nvPr/>
        </p:nvSpPr>
        <p:spPr>
          <a:xfrm>
            <a:off x="2540000" y="40132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7C325E-9601-AF98-9FC2-B46D41D8FD33}"/>
              </a:ext>
            </a:extLst>
          </p:cNvPr>
          <p:cNvSpPr/>
          <p:nvPr/>
        </p:nvSpPr>
        <p:spPr>
          <a:xfrm>
            <a:off x="2540000" y="4013200"/>
            <a:ext cx="3416068" cy="1778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FD34E-D8B0-B42E-1668-1B4C2F62760E}"/>
              </a:ext>
            </a:extLst>
          </p:cNvPr>
          <p:cNvSpPr txBox="1"/>
          <p:nvPr/>
        </p:nvSpPr>
        <p:spPr>
          <a:xfrm>
            <a:off x="7493000" y="39878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36.33% max DD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7FA62C-74CF-B2AD-09A3-6E275A85541F}"/>
              </a:ext>
            </a:extLst>
          </p:cNvPr>
          <p:cNvSpPr txBox="1"/>
          <p:nvPr/>
        </p:nvSpPr>
        <p:spPr>
          <a:xfrm>
            <a:off x="762000" y="4597400"/>
            <a:ext cx="17145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Adaptive bandit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CCCCD27-4467-C66E-5504-971C06C111F5}"/>
              </a:ext>
            </a:extLst>
          </p:cNvPr>
          <p:cNvSpPr/>
          <p:nvPr/>
        </p:nvSpPr>
        <p:spPr>
          <a:xfrm>
            <a:off x="2540000" y="4622800"/>
            <a:ext cx="4889500" cy="177800"/>
          </a:xfrm>
          <a:prstGeom prst="roundRect">
            <a:avLst/>
          </a:prstGeom>
          <a:solidFill>
            <a:srgbClr val="F3EDE8"/>
          </a:solidFill>
          <a:ln>
            <a:solidFill>
              <a:srgbClr val="F3ED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B383BC5-64E5-005F-51C5-B1E2287AA25C}"/>
              </a:ext>
            </a:extLst>
          </p:cNvPr>
          <p:cNvSpPr/>
          <p:nvPr/>
        </p:nvSpPr>
        <p:spPr>
          <a:xfrm>
            <a:off x="2540000" y="4622800"/>
            <a:ext cx="4703323" cy="1778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F982A5-8A8D-3D7D-F870-D637778515E9}"/>
              </a:ext>
            </a:extLst>
          </p:cNvPr>
          <p:cNvSpPr txBox="1"/>
          <p:nvPr/>
        </p:nvSpPr>
        <p:spPr>
          <a:xfrm>
            <a:off x="7493000" y="4597400"/>
            <a:ext cx="762000" cy="4001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000" b="1">
                <a:solidFill>
                  <a:srgbClr val="382620"/>
                </a:solidFill>
                <a:latin typeface="Aptos" panose="020B0004020202020204" pitchFamily="34" charset="0"/>
              </a:rPr>
              <a:t>50.02% max DD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151C36-D27C-BC79-F82C-6DA34597F71B}"/>
              </a:ext>
            </a:extLst>
          </p:cNvPr>
          <p:cNvSpPr txBox="1"/>
          <p:nvPr/>
        </p:nvSpPr>
        <p:spPr>
          <a:xfrm>
            <a:off x="9334500" y="2543805"/>
            <a:ext cx="5080000" cy="877163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700" b="1">
                <a:solidFill>
                  <a:srgbClr val="2E1B17"/>
                </a:solidFill>
                <a:latin typeface="Aptos" panose="020B0004020202020204" pitchFamily="34" charset="0"/>
              </a:rPr>
              <a:t>Full pipeline keeps the strongest CAGR and Sharpe in this run, while its drawdown remains lower than both MVO variants and the adaptive bandit.</a:t>
            </a:r>
            <a:endParaRPr lang="en-IN" sz="17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14901A-8D43-8843-0A1F-5A05732DF0C9}"/>
              </a:ext>
            </a:extLst>
          </p:cNvPr>
          <p:cNvSpPr txBox="1"/>
          <p:nvPr/>
        </p:nvSpPr>
        <p:spPr>
          <a:xfrm>
            <a:off x="9334500" y="4000500"/>
            <a:ext cx="5080000" cy="50783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300">
                <a:solidFill>
                  <a:srgbClr val="856B5F"/>
                </a:solidFill>
                <a:latin typeface="Aptos" panose="020B0004020202020204" pitchFamily="34" charset="0"/>
              </a:rPr>
              <a:t>This is why the page shows equity curves and drawdown together instead of presenting a single winner metric.</a:t>
            </a:r>
            <a:endParaRPr lang="en-IN" sz="13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D1FF33-0287-028B-48DF-888A0C23DA70}"/>
              </a:ext>
            </a:extLst>
          </p:cNvPr>
          <p:cNvSpPr/>
          <p:nvPr/>
        </p:nvSpPr>
        <p:spPr>
          <a:xfrm>
            <a:off x="9334500" y="5334000"/>
            <a:ext cx="4953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015999-9998-8360-A775-D0551A3C0EC3}"/>
              </a:ext>
            </a:extLst>
          </p:cNvPr>
          <p:cNvSpPr txBox="1"/>
          <p:nvPr/>
        </p:nvSpPr>
        <p:spPr>
          <a:xfrm>
            <a:off x="9334500" y="5562600"/>
            <a:ext cx="4445000" cy="292388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300" b="1">
                <a:solidFill>
                  <a:srgbClr val="A9B72B"/>
                </a:solidFill>
                <a:latin typeface="Aptos" panose="020B0004020202020204" pitchFamily="34" charset="0"/>
              </a:rPr>
              <a:t>83 monthly rebalance periods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E56515-1036-AF22-FE79-FB56444B93E7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467DDC-1205-4241-464B-7F5D34FF6DE0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702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2B62BB-1B2D-1C9F-4209-0233B27582D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8C187-87B2-5027-54F6-C1961BBB6C0F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06 / TAX-AWARE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3C087-1F04-16B8-1723-B8A00EFCD1A3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Rebalancing becomes a tax decision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0401C-5805-35C0-6DDB-2879C1321D44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The same target weights are replayed under three execution policies.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DC3F09-ADE9-C8D7-4EC7-056DCBA82A6B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FE2E5A-0AB6-694D-5DC3-C8CB07D4B413}"/>
              </a:ext>
            </a:extLst>
          </p:cNvPr>
          <p:cNvSpPr/>
          <p:nvPr/>
        </p:nvSpPr>
        <p:spPr>
          <a:xfrm>
            <a:off x="825500" y="2222500"/>
            <a:ext cx="4191000" cy="16256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9DE80-25D2-A7CD-06BF-0A611261DCCA}"/>
              </a:ext>
            </a:extLst>
          </p:cNvPr>
          <p:cNvSpPr/>
          <p:nvPr/>
        </p:nvSpPr>
        <p:spPr>
          <a:xfrm>
            <a:off x="825500" y="2222500"/>
            <a:ext cx="4191000" cy="101600"/>
          </a:xfrm>
          <a:prstGeom prst="rect">
            <a:avLst/>
          </a:prstGeom>
          <a:solidFill>
            <a:srgbClr val="856B5F"/>
          </a:solidFill>
          <a:ln>
            <a:solidFill>
              <a:srgbClr val="856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A6EE8-F1AD-7357-C13B-3855E6CC83DA}"/>
              </a:ext>
            </a:extLst>
          </p:cNvPr>
          <p:cNvSpPr txBox="1"/>
          <p:nvPr/>
        </p:nvSpPr>
        <p:spPr>
          <a:xfrm>
            <a:off x="1104900" y="2565400"/>
            <a:ext cx="3556000" cy="36933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800" b="1">
                <a:solidFill>
                  <a:srgbClr val="2E1B17"/>
                </a:solidFill>
                <a:latin typeface="Aptos" panose="020B0004020202020204" pitchFamily="34" charset="0"/>
              </a:rPr>
              <a:t>No tax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20E74-0DE2-B4B1-568D-EC5F3F9056A7}"/>
              </a:ext>
            </a:extLst>
          </p:cNvPr>
          <p:cNvSpPr txBox="1"/>
          <p:nvPr/>
        </p:nvSpPr>
        <p:spPr>
          <a:xfrm>
            <a:off x="1104900" y="3098800"/>
            <a:ext cx="3556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>
                <a:solidFill>
                  <a:srgbClr val="856B5F"/>
                </a:solidFill>
                <a:latin typeface="Aptos" panose="020B0004020202020204" pitchFamily="34" charset="0"/>
              </a:rPr>
              <a:t>Frictionless upper bound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037C52-C4B3-D41F-5CC3-C0C45321F665}"/>
              </a:ext>
            </a:extLst>
          </p:cNvPr>
          <p:cNvCxnSpPr/>
          <p:nvPr/>
        </p:nvCxnSpPr>
        <p:spPr>
          <a:xfrm>
            <a:off x="5016500" y="3035300"/>
            <a:ext cx="5334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97255E-5115-26AA-A34C-A41B977D3815}"/>
              </a:ext>
            </a:extLst>
          </p:cNvPr>
          <p:cNvSpPr/>
          <p:nvPr/>
        </p:nvSpPr>
        <p:spPr>
          <a:xfrm>
            <a:off x="5715000" y="2222500"/>
            <a:ext cx="4191000" cy="16256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933DB-7CCE-949D-1DAD-FF2889762D40}"/>
              </a:ext>
            </a:extLst>
          </p:cNvPr>
          <p:cNvSpPr/>
          <p:nvPr/>
        </p:nvSpPr>
        <p:spPr>
          <a:xfrm>
            <a:off x="5715000" y="2222500"/>
            <a:ext cx="4191000" cy="101600"/>
          </a:xfrm>
          <a:prstGeom prst="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65BF1C-A4C5-9416-990A-1B9F72F072F8}"/>
              </a:ext>
            </a:extLst>
          </p:cNvPr>
          <p:cNvSpPr txBox="1"/>
          <p:nvPr/>
        </p:nvSpPr>
        <p:spPr>
          <a:xfrm>
            <a:off x="5994400" y="2565400"/>
            <a:ext cx="3556000" cy="36933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800" b="1">
                <a:solidFill>
                  <a:srgbClr val="2E1B17"/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C69CBE-4B8B-3C9B-968D-04C986DF8536}"/>
              </a:ext>
            </a:extLst>
          </p:cNvPr>
          <p:cNvSpPr txBox="1"/>
          <p:nvPr/>
        </p:nvSpPr>
        <p:spPr>
          <a:xfrm>
            <a:off x="5994400" y="3098800"/>
            <a:ext cx="3556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>
                <a:solidFill>
                  <a:srgbClr val="856B5F"/>
                </a:solidFill>
                <a:latin typeface="Aptos" panose="020B0004020202020204" pitchFamily="34" charset="0"/>
              </a:rPr>
              <a:t>Naive lot selection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A30E2D-9ECA-FA6E-9545-FF2DBDEB19FB}"/>
              </a:ext>
            </a:extLst>
          </p:cNvPr>
          <p:cNvCxnSpPr/>
          <p:nvPr/>
        </p:nvCxnSpPr>
        <p:spPr>
          <a:xfrm>
            <a:off x="9906000" y="3035300"/>
            <a:ext cx="533400" cy="0"/>
          </a:xfrm>
          <a:prstGeom prst="line">
            <a:avLst/>
          </a:prstGeom>
          <a:ln w="27940">
            <a:solidFill>
              <a:srgbClr val="856B5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384C41-5C1C-36FA-303F-7E23555DF7CA}"/>
              </a:ext>
            </a:extLst>
          </p:cNvPr>
          <p:cNvSpPr/>
          <p:nvPr/>
        </p:nvSpPr>
        <p:spPr>
          <a:xfrm>
            <a:off x="10604500" y="2222500"/>
            <a:ext cx="4191000" cy="16256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2D5DEE-E48D-88CE-3B3A-DB670026E123}"/>
              </a:ext>
            </a:extLst>
          </p:cNvPr>
          <p:cNvSpPr/>
          <p:nvPr/>
        </p:nvSpPr>
        <p:spPr>
          <a:xfrm>
            <a:off x="10604500" y="2222500"/>
            <a:ext cx="4191000" cy="1016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7C854-F170-3273-C6B5-63216F00715F}"/>
              </a:ext>
            </a:extLst>
          </p:cNvPr>
          <p:cNvSpPr txBox="1"/>
          <p:nvPr/>
        </p:nvSpPr>
        <p:spPr>
          <a:xfrm>
            <a:off x="10883900" y="2565400"/>
            <a:ext cx="3556000" cy="36933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800" b="1">
                <a:solidFill>
                  <a:srgbClr val="2E1B17"/>
                </a:solidFill>
                <a:latin typeface="Aptos" panose="020B0004020202020204" pitchFamily="34" charset="0"/>
              </a:rPr>
              <a:t>Tax-aware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A291CE-1A6A-1585-552C-0E8BBE521543}"/>
              </a:ext>
            </a:extLst>
          </p:cNvPr>
          <p:cNvSpPr txBox="1"/>
          <p:nvPr/>
        </p:nvSpPr>
        <p:spPr>
          <a:xfrm>
            <a:off x="10883900" y="3098800"/>
            <a:ext cx="3556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Lot selection minimizes realized tax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387CCF-2343-BF10-77EA-1E47CD67E6A2}"/>
              </a:ext>
            </a:extLst>
          </p:cNvPr>
          <p:cNvSpPr txBox="1"/>
          <p:nvPr/>
        </p:nvSpPr>
        <p:spPr>
          <a:xfrm>
            <a:off x="825500" y="4635500"/>
            <a:ext cx="2286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Tax-aware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3E29B-6BC9-51CC-2752-E04FD81C81ED}"/>
              </a:ext>
            </a:extLst>
          </p:cNvPr>
          <p:cNvSpPr txBox="1"/>
          <p:nvPr/>
        </p:nvSpPr>
        <p:spPr>
          <a:xfrm>
            <a:off x="825500" y="5041900"/>
            <a:ext cx="13335000" cy="33855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600">
                <a:solidFill>
                  <a:srgbClr val="856B5F"/>
                </a:solidFill>
                <a:latin typeface="Aptos" panose="020B0004020202020204" pitchFamily="34" charset="0"/>
              </a:rPr>
              <a:t>Target weights  →  choose lots  →  realize gains/losses  →  apply India tax rules  →  compare after-tax equity</a:t>
            </a:r>
            <a:endParaRPr lang="en-IN" sz="16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685778-7B94-2BCA-D213-3796A4E031E7}"/>
              </a:ext>
            </a:extLst>
          </p:cNvPr>
          <p:cNvSpPr/>
          <p:nvPr/>
        </p:nvSpPr>
        <p:spPr>
          <a:xfrm>
            <a:off x="825500" y="5778500"/>
            <a:ext cx="3810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85055E-CF53-F403-F01E-FE6E1A5CC5B8}"/>
              </a:ext>
            </a:extLst>
          </p:cNvPr>
          <p:cNvSpPr/>
          <p:nvPr/>
        </p:nvSpPr>
        <p:spPr>
          <a:xfrm>
            <a:off x="825500" y="5778500"/>
            <a:ext cx="63500" cy="6985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48DF42-33A6-B34B-F1A2-6C9C7E95E8B2}"/>
              </a:ext>
            </a:extLst>
          </p:cNvPr>
          <p:cNvSpPr txBox="1"/>
          <p:nvPr/>
        </p:nvSpPr>
        <p:spPr>
          <a:xfrm>
            <a:off x="1054100" y="5956300"/>
            <a:ext cx="3429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Policy 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F7E38F-1D84-19F7-D2AF-34D97E04852F}"/>
              </a:ext>
            </a:extLst>
          </p:cNvPr>
          <p:cNvSpPr txBox="1"/>
          <p:nvPr/>
        </p:nvSpPr>
        <p:spPr>
          <a:xfrm>
            <a:off x="1054100" y="6311900"/>
            <a:ext cx="3429000" cy="2616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no_tax  |  fifo  |  tax_aware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4A4F56F-3556-116D-87A0-D977BDE575C2}"/>
              </a:ext>
            </a:extLst>
          </p:cNvPr>
          <p:cNvSpPr/>
          <p:nvPr/>
        </p:nvSpPr>
        <p:spPr>
          <a:xfrm>
            <a:off x="4953000" y="5778500"/>
            <a:ext cx="3810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4E32A5-CBA2-CF19-1C09-0C8BE2B7D635}"/>
              </a:ext>
            </a:extLst>
          </p:cNvPr>
          <p:cNvSpPr/>
          <p:nvPr/>
        </p:nvSpPr>
        <p:spPr>
          <a:xfrm>
            <a:off x="4953000" y="5778500"/>
            <a:ext cx="63500" cy="698500"/>
          </a:xfrm>
          <a:prstGeom prst="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11C723-9D90-8B8C-87DA-52568A913C1A}"/>
              </a:ext>
            </a:extLst>
          </p:cNvPr>
          <p:cNvSpPr txBox="1"/>
          <p:nvPr/>
        </p:nvSpPr>
        <p:spPr>
          <a:xfrm>
            <a:off x="5181600" y="5956300"/>
            <a:ext cx="3429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Tax 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EF3CAF-4534-AD18-1798-36484D610DAD}"/>
              </a:ext>
            </a:extLst>
          </p:cNvPr>
          <p:cNvSpPr txBox="1"/>
          <p:nvPr/>
        </p:nvSpPr>
        <p:spPr>
          <a:xfrm>
            <a:off x="5181600" y="6311900"/>
            <a:ext cx="3429000" cy="2616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>
                <a:solidFill>
                  <a:srgbClr val="856B5F"/>
                </a:solidFill>
                <a:latin typeface="Aptos" panose="020B0004020202020204" pitchFamily="34" charset="0"/>
              </a:rPr>
              <a:t>asset-class tax paid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137799D-C97B-479F-EA4C-6CC6A93AD12C}"/>
              </a:ext>
            </a:extLst>
          </p:cNvPr>
          <p:cNvSpPr/>
          <p:nvPr/>
        </p:nvSpPr>
        <p:spPr>
          <a:xfrm>
            <a:off x="9080500" y="5778500"/>
            <a:ext cx="3810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2D2D7D-FB2E-3089-CCA8-F919671C5E30}"/>
              </a:ext>
            </a:extLst>
          </p:cNvPr>
          <p:cNvSpPr/>
          <p:nvPr/>
        </p:nvSpPr>
        <p:spPr>
          <a:xfrm>
            <a:off x="9080500" y="5778500"/>
            <a:ext cx="63500" cy="698500"/>
          </a:xfrm>
          <a:prstGeom prst="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81B819-BA11-48D9-7F77-40D1ADA27934}"/>
              </a:ext>
            </a:extLst>
          </p:cNvPr>
          <p:cNvSpPr txBox="1"/>
          <p:nvPr/>
        </p:nvSpPr>
        <p:spPr>
          <a:xfrm>
            <a:off x="9309100" y="5956300"/>
            <a:ext cx="34290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Decision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9D3FD2-B990-16B1-B839-E5958F517EF3}"/>
              </a:ext>
            </a:extLst>
          </p:cNvPr>
          <p:cNvSpPr txBox="1"/>
          <p:nvPr/>
        </p:nvSpPr>
        <p:spPr>
          <a:xfrm>
            <a:off x="9309100" y="6311900"/>
            <a:ext cx="3429000" cy="2616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>
                <a:solidFill>
                  <a:srgbClr val="856B5F"/>
                </a:solidFill>
                <a:latin typeface="Aptos" panose="020B0004020202020204" pitchFamily="34" charset="0"/>
              </a:rPr>
              <a:t>savings + recovery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81B2B5-E04F-5AFD-A10B-74110EF6E955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845601-FC4C-6024-9289-1692AC8FB81D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91146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6D908-39C9-48E2-0BFD-A2A1FA9CFB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solidFill>
              <a:srgbClr val="FAF7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69151-5F93-3D84-9F2A-68F6DBEEF7E9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07 / TAX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D8E482-B45F-96DB-7064-A73FA14A028D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Tax-aware rebalancing protects more of the outcome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C2C13-4BCF-4319-CE30-B924A0FEB423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Verified live run from the backtest endpoint.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FDA29-213E-7B99-7AEB-A910BB0170F0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9770CD-B6C6-0923-966F-76D26598EF0B}"/>
              </a:ext>
            </a:extLst>
          </p:cNvPr>
          <p:cNvSpPr/>
          <p:nvPr/>
        </p:nvSpPr>
        <p:spPr>
          <a:xfrm>
            <a:off x="889000" y="2286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013B-3F5C-5114-024B-4F4B7059F27C}"/>
              </a:ext>
            </a:extLst>
          </p:cNvPr>
          <p:cNvSpPr txBox="1"/>
          <p:nvPr/>
        </p:nvSpPr>
        <p:spPr>
          <a:xfrm>
            <a:off x="1117600" y="2540000"/>
            <a:ext cx="2921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2800" b="1">
                <a:solidFill>
                  <a:srgbClr val="A9B72B"/>
                </a:solidFill>
                <a:latin typeface="Aptos" panose="020B0004020202020204" pitchFamily="34" charset="0"/>
              </a:rPr>
              <a:t>5.81%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CEDF6-1E21-9C4E-46F4-E87BE7C9F2AF}"/>
              </a:ext>
            </a:extLst>
          </p:cNvPr>
          <p:cNvSpPr txBox="1"/>
          <p:nvPr/>
        </p:nvSpPr>
        <p:spPr>
          <a:xfrm>
            <a:off x="1117600" y="3213100"/>
            <a:ext cx="2921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856B5F"/>
                </a:solidFill>
                <a:latin typeface="Aptos" panose="020B0004020202020204" pitchFamily="34" charset="0"/>
              </a:rPr>
              <a:t>Tax-aware savings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7545C6-251D-9064-8AC6-6908F4994036}"/>
              </a:ext>
            </a:extLst>
          </p:cNvPr>
          <p:cNvSpPr/>
          <p:nvPr/>
        </p:nvSpPr>
        <p:spPr>
          <a:xfrm>
            <a:off x="5143500" y="2286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BC5DB-09C8-FE99-DC58-CC415A63FDE7}"/>
              </a:ext>
            </a:extLst>
          </p:cNvPr>
          <p:cNvSpPr txBox="1"/>
          <p:nvPr/>
        </p:nvSpPr>
        <p:spPr>
          <a:xfrm>
            <a:off x="5372100" y="2540000"/>
            <a:ext cx="2921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2800" b="1">
                <a:solidFill>
                  <a:srgbClr val="588BE9"/>
                </a:solidFill>
                <a:latin typeface="Aptos" panose="020B0004020202020204" pitchFamily="34" charset="0"/>
              </a:rPr>
              <a:t>24.26%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DE220-1351-7727-4165-092F976C2FCF}"/>
              </a:ext>
            </a:extLst>
          </p:cNvPr>
          <p:cNvSpPr txBox="1"/>
          <p:nvPr/>
        </p:nvSpPr>
        <p:spPr>
          <a:xfrm>
            <a:off x="5372100" y="3213100"/>
            <a:ext cx="2921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856B5F"/>
                </a:solidFill>
                <a:latin typeface="Aptos" panose="020B0004020202020204" pitchFamily="34" charset="0"/>
              </a:rPr>
              <a:t>Tax drag recovered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252BBA-A9C9-AF31-C44D-9ACC371A5693}"/>
              </a:ext>
            </a:extLst>
          </p:cNvPr>
          <p:cNvSpPr/>
          <p:nvPr/>
        </p:nvSpPr>
        <p:spPr>
          <a:xfrm>
            <a:off x="9398000" y="2286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156D7D-58D2-3D9D-11E7-1367F07A97CA}"/>
              </a:ext>
            </a:extLst>
          </p:cNvPr>
          <p:cNvSpPr txBox="1"/>
          <p:nvPr/>
        </p:nvSpPr>
        <p:spPr>
          <a:xfrm>
            <a:off x="9626600" y="2540000"/>
            <a:ext cx="2921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2800" b="1">
                <a:solidFill>
                  <a:srgbClr val="6AC4E9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943A70-7641-2391-3C17-5D9C7CEBC6F5}"/>
              </a:ext>
            </a:extLst>
          </p:cNvPr>
          <p:cNvSpPr txBox="1"/>
          <p:nvPr/>
        </p:nvSpPr>
        <p:spPr>
          <a:xfrm>
            <a:off x="9626600" y="3213100"/>
            <a:ext cx="2921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856B5F"/>
                </a:solidFill>
                <a:latin typeface="Aptos" panose="020B0004020202020204" pitchFamily="34" charset="0"/>
              </a:rPr>
              <a:t>Policies compared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9CB0B3-FCCF-2AFC-C085-82F26683D3CE}"/>
              </a:ext>
            </a:extLst>
          </p:cNvPr>
          <p:cNvSpPr txBox="1"/>
          <p:nvPr/>
        </p:nvSpPr>
        <p:spPr>
          <a:xfrm>
            <a:off x="889000" y="4508500"/>
            <a:ext cx="2921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After-tax equity chart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38C7DB-99DA-476E-16C3-2D7F7CF031C7}"/>
              </a:ext>
            </a:extLst>
          </p:cNvPr>
          <p:cNvSpPr/>
          <p:nvPr/>
        </p:nvSpPr>
        <p:spPr>
          <a:xfrm>
            <a:off x="889000" y="4953000"/>
            <a:ext cx="10160000" cy="63500"/>
          </a:xfrm>
          <a:prstGeom prst="rect">
            <a:avLst/>
          </a:prstGeom>
          <a:solidFill>
            <a:srgbClr val="EEE4DD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DDB91-5CF0-BAF8-6553-43C7C042B381}"/>
              </a:ext>
            </a:extLst>
          </p:cNvPr>
          <p:cNvSpPr/>
          <p:nvPr/>
        </p:nvSpPr>
        <p:spPr>
          <a:xfrm>
            <a:off x="889000" y="5778500"/>
            <a:ext cx="10160000" cy="63500"/>
          </a:xfrm>
          <a:prstGeom prst="rect">
            <a:avLst/>
          </a:prstGeom>
          <a:solidFill>
            <a:srgbClr val="EEE4DD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23C5C03-BBC8-11D6-C2C5-B94E7676E0EA}"/>
              </a:ext>
            </a:extLst>
          </p:cNvPr>
          <p:cNvSpPr/>
          <p:nvPr/>
        </p:nvSpPr>
        <p:spPr>
          <a:xfrm>
            <a:off x="1143000" y="56769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7BDE034-9D41-2E83-4164-B10AC206B886}"/>
              </a:ext>
            </a:extLst>
          </p:cNvPr>
          <p:cNvSpPr/>
          <p:nvPr/>
        </p:nvSpPr>
        <p:spPr>
          <a:xfrm>
            <a:off x="1143000" y="58801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59107F-D43F-AE56-3C9C-65CAF5BBCD46}"/>
              </a:ext>
            </a:extLst>
          </p:cNvPr>
          <p:cNvSpPr/>
          <p:nvPr/>
        </p:nvSpPr>
        <p:spPr>
          <a:xfrm>
            <a:off x="2286000" y="56134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DBF225-39A3-2DD0-D3E6-0876561E3FE1}"/>
              </a:ext>
            </a:extLst>
          </p:cNvPr>
          <p:cNvSpPr/>
          <p:nvPr/>
        </p:nvSpPr>
        <p:spPr>
          <a:xfrm>
            <a:off x="2286000" y="58420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A281E3-EFFE-8870-8AEF-E73B5F4B9057}"/>
              </a:ext>
            </a:extLst>
          </p:cNvPr>
          <p:cNvSpPr/>
          <p:nvPr/>
        </p:nvSpPr>
        <p:spPr>
          <a:xfrm>
            <a:off x="3429000" y="55499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E85051-2559-C101-C6BB-07F3FD16A625}"/>
              </a:ext>
            </a:extLst>
          </p:cNvPr>
          <p:cNvSpPr/>
          <p:nvPr/>
        </p:nvSpPr>
        <p:spPr>
          <a:xfrm>
            <a:off x="3429000" y="58039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52C068E-EAB6-5D81-3FC5-A937912CFFCD}"/>
              </a:ext>
            </a:extLst>
          </p:cNvPr>
          <p:cNvSpPr/>
          <p:nvPr/>
        </p:nvSpPr>
        <p:spPr>
          <a:xfrm>
            <a:off x="4572000" y="54864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6B4358F-23A0-4444-EDD3-E1EDC0D04F46}"/>
              </a:ext>
            </a:extLst>
          </p:cNvPr>
          <p:cNvSpPr/>
          <p:nvPr/>
        </p:nvSpPr>
        <p:spPr>
          <a:xfrm>
            <a:off x="4572000" y="57658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84CE444-A5B7-BE8F-541C-ABCE7E4EE94E}"/>
              </a:ext>
            </a:extLst>
          </p:cNvPr>
          <p:cNvSpPr/>
          <p:nvPr/>
        </p:nvSpPr>
        <p:spPr>
          <a:xfrm>
            <a:off x="5715000" y="54229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773920-E6A6-5028-BCC6-855BC459F1B0}"/>
              </a:ext>
            </a:extLst>
          </p:cNvPr>
          <p:cNvSpPr/>
          <p:nvPr/>
        </p:nvSpPr>
        <p:spPr>
          <a:xfrm>
            <a:off x="5715000" y="57277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72ABA8-6C37-D57A-D77A-3F75461EBCAC}"/>
              </a:ext>
            </a:extLst>
          </p:cNvPr>
          <p:cNvSpPr/>
          <p:nvPr/>
        </p:nvSpPr>
        <p:spPr>
          <a:xfrm>
            <a:off x="6858000" y="53594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ED0C0D1-2820-C6D6-4326-284B5EB68A29}"/>
              </a:ext>
            </a:extLst>
          </p:cNvPr>
          <p:cNvSpPr/>
          <p:nvPr/>
        </p:nvSpPr>
        <p:spPr>
          <a:xfrm>
            <a:off x="6858000" y="56896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86BD18B-7C29-1F0F-A152-E2C0140F32C3}"/>
              </a:ext>
            </a:extLst>
          </p:cNvPr>
          <p:cNvSpPr/>
          <p:nvPr/>
        </p:nvSpPr>
        <p:spPr>
          <a:xfrm>
            <a:off x="8001000" y="52959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E13AFA1-31BB-6A9B-E8CC-42F322F4FAE8}"/>
              </a:ext>
            </a:extLst>
          </p:cNvPr>
          <p:cNvSpPr/>
          <p:nvPr/>
        </p:nvSpPr>
        <p:spPr>
          <a:xfrm>
            <a:off x="8001000" y="56515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7D9AB88-5333-480B-49C2-00CA0A621D5D}"/>
              </a:ext>
            </a:extLst>
          </p:cNvPr>
          <p:cNvSpPr/>
          <p:nvPr/>
        </p:nvSpPr>
        <p:spPr>
          <a:xfrm>
            <a:off x="9144000" y="52324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01BF507-5789-86D5-E027-A98EAF1AD15E}"/>
              </a:ext>
            </a:extLst>
          </p:cNvPr>
          <p:cNvSpPr/>
          <p:nvPr/>
        </p:nvSpPr>
        <p:spPr>
          <a:xfrm>
            <a:off x="9144000" y="56134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6CF2155-B012-D7F3-784C-E7B615227E8A}"/>
              </a:ext>
            </a:extLst>
          </p:cNvPr>
          <p:cNvSpPr/>
          <p:nvPr/>
        </p:nvSpPr>
        <p:spPr>
          <a:xfrm>
            <a:off x="10287000" y="5168900"/>
            <a:ext cx="889000" cy="635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F82C440-E5BC-4112-B4E5-5E6CF433D178}"/>
              </a:ext>
            </a:extLst>
          </p:cNvPr>
          <p:cNvSpPr/>
          <p:nvPr/>
        </p:nvSpPr>
        <p:spPr>
          <a:xfrm>
            <a:off x="10287000" y="5575300"/>
            <a:ext cx="889000" cy="63500"/>
          </a:xfrm>
          <a:prstGeom prst="roundRect">
            <a:avLst/>
          </a:prstGeom>
          <a:solidFill>
            <a:srgbClr val="5D5DD9"/>
          </a:solidFill>
          <a:ln>
            <a:solidFill>
              <a:srgbClr val="5D5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E395BB-BC00-0B81-8795-0193EBBFB72F}"/>
              </a:ext>
            </a:extLst>
          </p:cNvPr>
          <p:cNvSpPr txBox="1"/>
          <p:nvPr/>
        </p:nvSpPr>
        <p:spPr>
          <a:xfrm>
            <a:off x="10223500" y="5461000"/>
            <a:ext cx="1143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Tax-aware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A688FA-DC80-3346-363A-BE24EE0DE670}"/>
              </a:ext>
            </a:extLst>
          </p:cNvPr>
          <p:cNvSpPr txBox="1"/>
          <p:nvPr/>
        </p:nvSpPr>
        <p:spPr>
          <a:xfrm>
            <a:off x="10223500" y="5867400"/>
            <a:ext cx="1143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5D5DD9"/>
                </a:solidFill>
                <a:latin typeface="Aptos" panose="020B0004020202020204" pitchFamily="34" charset="0"/>
              </a:rPr>
              <a:t>FIFO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747EAA-59E3-32FC-7942-53EBB44372BC}"/>
              </a:ext>
            </a:extLst>
          </p:cNvPr>
          <p:cNvSpPr txBox="1"/>
          <p:nvPr/>
        </p:nvSpPr>
        <p:spPr>
          <a:xfrm>
            <a:off x="11811000" y="4699000"/>
            <a:ext cx="2540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 b="1">
                <a:solidFill>
                  <a:srgbClr val="2E1B17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E1A32A-E3F7-F8FB-883E-0ACC16CA104D}"/>
              </a:ext>
            </a:extLst>
          </p:cNvPr>
          <p:cNvSpPr txBox="1"/>
          <p:nvPr/>
        </p:nvSpPr>
        <p:spPr>
          <a:xfrm>
            <a:off x="11811000" y="5143500"/>
            <a:ext cx="3302000" cy="95410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400">
                <a:solidFill>
                  <a:srgbClr val="856B5F"/>
                </a:solidFill>
                <a:latin typeface="Aptos" panose="020B0004020202020204" pitchFamily="34" charset="0"/>
              </a:rPr>
              <a:t>Tax-aware lot selection reduces the implementation drag between an ideal portfolio and the realized portfolio an investor can actually hold.</a:t>
            </a:r>
            <a:endParaRPr lang="en-IN" sz="14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5EF75B-7494-D857-EE79-E307262FD646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989A16-3031-A43E-3114-835914B5DFB8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4252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2082E-5647-FFAA-D769-9A8B2DC59E0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B90EA-B39A-14B1-AD86-0350EB138926}"/>
              </a:ext>
            </a:extLst>
          </p:cNvPr>
          <p:cNvSpPr txBox="1"/>
          <p:nvPr/>
        </p:nvSpPr>
        <p:spPr>
          <a:xfrm>
            <a:off x="558800" y="304800"/>
            <a:ext cx="63500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000" b="1">
                <a:solidFill>
                  <a:srgbClr val="A9B72B"/>
                </a:solidFill>
                <a:latin typeface="Aptos" panose="020B0004020202020204" pitchFamily="34" charset="0"/>
              </a:rPr>
              <a:t>08 / PRODUCT SURFACE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12640-660C-9FEB-21A5-5FFCF2D4EDE0}"/>
              </a:ext>
            </a:extLst>
          </p:cNvPr>
          <p:cNvSpPr txBox="1"/>
          <p:nvPr/>
        </p:nvSpPr>
        <p:spPr>
          <a:xfrm>
            <a:off x="558800" y="635000"/>
            <a:ext cx="11430000" cy="52322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2800" b="1">
                <a:solidFill>
                  <a:srgbClr val="2E1B17"/>
                </a:solidFill>
                <a:latin typeface="Aptos" panose="020B0004020202020204" pitchFamily="34" charset="0"/>
              </a:rPr>
              <a:t>What the evaluator can inspect</a:t>
            </a:r>
            <a:endParaRPr lang="en-IN" sz="2800" b="1">
              <a:solidFill>
                <a:srgbClr val="2E1B1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E3A52-2299-0C3E-6C94-8AECCA866899}"/>
              </a:ext>
            </a:extLst>
          </p:cNvPr>
          <p:cNvSpPr txBox="1"/>
          <p:nvPr/>
        </p:nvSpPr>
        <p:spPr>
          <a:xfrm>
            <a:off x="558800" y="1219200"/>
            <a:ext cx="14224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The Backtest page connects model output to decision-ready evidence.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6FBB6-FD16-EF5F-E219-7A42C303D7CB}"/>
              </a:ext>
            </a:extLst>
          </p:cNvPr>
          <p:cNvSpPr/>
          <p:nvPr/>
        </p:nvSpPr>
        <p:spPr>
          <a:xfrm>
            <a:off x="558800" y="1651000"/>
            <a:ext cx="889000" cy="508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60CA93-0FC4-1C11-4BD8-FB2420C24960}"/>
              </a:ext>
            </a:extLst>
          </p:cNvPr>
          <p:cNvSpPr/>
          <p:nvPr/>
        </p:nvSpPr>
        <p:spPr>
          <a:xfrm>
            <a:off x="889000" y="2095500"/>
            <a:ext cx="304800" cy="3048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1B24D-E011-0793-BC67-70C59E87078D}"/>
              </a:ext>
            </a:extLst>
          </p:cNvPr>
          <p:cNvSpPr txBox="1"/>
          <p:nvPr/>
        </p:nvSpPr>
        <p:spPr>
          <a:xfrm>
            <a:off x="889000" y="2120900"/>
            <a:ext cx="3048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7C07E-F23B-A368-A096-09FE97550781}"/>
              </a:ext>
            </a:extLst>
          </p:cNvPr>
          <p:cNvSpPr txBox="1"/>
          <p:nvPr/>
        </p:nvSpPr>
        <p:spPr>
          <a:xfrm>
            <a:off x="1460500" y="2095500"/>
            <a:ext cx="2286000" cy="30008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300" b="1">
                <a:solidFill>
                  <a:srgbClr val="2E1B17"/>
                </a:solidFill>
                <a:latin typeface="Aptos" panose="020B0004020202020204" pitchFamily="34" charset="0"/>
              </a:rPr>
              <a:t>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78923-36C7-AB4B-8CB8-1B062D508A6D}"/>
              </a:ext>
            </a:extLst>
          </p:cNvPr>
          <p:cNvSpPr txBox="1"/>
          <p:nvPr/>
        </p:nvSpPr>
        <p:spPr>
          <a:xfrm>
            <a:off x="4064000" y="2095500"/>
            <a:ext cx="6985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>
                <a:solidFill>
                  <a:srgbClr val="856B5F"/>
                </a:solidFill>
                <a:latin typeface="Aptos" panose="020B0004020202020204" pitchFamily="34" charset="0"/>
              </a:rPr>
              <a:t>Lookback, baseline, transaction cost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137481-8FC5-9FAE-12AA-B509D35C3D0E}"/>
              </a:ext>
            </a:extLst>
          </p:cNvPr>
          <p:cNvSpPr/>
          <p:nvPr/>
        </p:nvSpPr>
        <p:spPr>
          <a:xfrm>
            <a:off x="889000" y="2832100"/>
            <a:ext cx="304800" cy="304800"/>
          </a:xfrm>
          <a:prstGeom prst="round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41BF5-2499-E80E-88EE-A8E5E8A97091}"/>
              </a:ext>
            </a:extLst>
          </p:cNvPr>
          <p:cNvSpPr txBox="1"/>
          <p:nvPr/>
        </p:nvSpPr>
        <p:spPr>
          <a:xfrm>
            <a:off x="889000" y="2857500"/>
            <a:ext cx="3048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F2DF1-D0C0-EC80-7FF6-333537413AC8}"/>
              </a:ext>
            </a:extLst>
          </p:cNvPr>
          <p:cNvSpPr txBox="1"/>
          <p:nvPr/>
        </p:nvSpPr>
        <p:spPr>
          <a:xfrm>
            <a:off x="1460500" y="2832100"/>
            <a:ext cx="2286000" cy="30008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300" b="1">
                <a:solidFill>
                  <a:srgbClr val="2E1B17"/>
                </a:solidFill>
                <a:latin typeface="Aptos" panose="020B0004020202020204" pitchFamily="34" charset="0"/>
              </a:rPr>
              <a:t>Performance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2041DD-128E-D1E1-8F75-D0366557AB9F}"/>
              </a:ext>
            </a:extLst>
          </p:cNvPr>
          <p:cNvSpPr txBox="1"/>
          <p:nvPr/>
        </p:nvSpPr>
        <p:spPr>
          <a:xfrm>
            <a:off x="4064000" y="2832100"/>
            <a:ext cx="6985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Equity curves and strategy metrics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65FB9F-7623-EA22-2E93-CE2104CC6097}"/>
              </a:ext>
            </a:extLst>
          </p:cNvPr>
          <p:cNvSpPr/>
          <p:nvPr/>
        </p:nvSpPr>
        <p:spPr>
          <a:xfrm>
            <a:off x="889000" y="3568700"/>
            <a:ext cx="304800" cy="304800"/>
          </a:xfrm>
          <a:prstGeom prst="round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034B4-D4D4-AE4D-BD34-3B9FF32D17C1}"/>
              </a:ext>
            </a:extLst>
          </p:cNvPr>
          <p:cNvSpPr txBox="1"/>
          <p:nvPr/>
        </p:nvSpPr>
        <p:spPr>
          <a:xfrm>
            <a:off x="889000" y="3594100"/>
            <a:ext cx="3048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98A37-DCB4-68AA-9FDA-244E04C3909B}"/>
              </a:ext>
            </a:extLst>
          </p:cNvPr>
          <p:cNvSpPr txBox="1"/>
          <p:nvPr/>
        </p:nvSpPr>
        <p:spPr>
          <a:xfrm>
            <a:off x="1460500" y="3568700"/>
            <a:ext cx="2286000" cy="30008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300" b="1">
                <a:solidFill>
                  <a:srgbClr val="2E1B17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3D747-39DB-284D-36EF-7B695108CFE9}"/>
              </a:ext>
            </a:extLst>
          </p:cNvPr>
          <p:cNvSpPr txBox="1"/>
          <p:nvPr/>
        </p:nvSpPr>
        <p:spPr>
          <a:xfrm>
            <a:off x="4064000" y="3568700"/>
            <a:ext cx="6985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>
                <a:solidFill>
                  <a:srgbClr val="856B5F"/>
                </a:solidFill>
                <a:latin typeface="Aptos" panose="020B0004020202020204" pitchFamily="34" charset="0"/>
              </a:rPr>
              <a:t>Drawdown and regime breakdown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D317992-B6AE-9182-69A7-7BF3D8901994}"/>
              </a:ext>
            </a:extLst>
          </p:cNvPr>
          <p:cNvSpPr/>
          <p:nvPr/>
        </p:nvSpPr>
        <p:spPr>
          <a:xfrm>
            <a:off x="889000" y="4305300"/>
            <a:ext cx="304800" cy="304800"/>
          </a:xfrm>
          <a:prstGeom prst="round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64B902-DD2E-688E-2832-592309D501AD}"/>
              </a:ext>
            </a:extLst>
          </p:cNvPr>
          <p:cNvSpPr txBox="1"/>
          <p:nvPr/>
        </p:nvSpPr>
        <p:spPr>
          <a:xfrm>
            <a:off x="889000" y="4330700"/>
            <a:ext cx="3048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BB5330-A278-2908-CEBB-34C9F87823F8}"/>
              </a:ext>
            </a:extLst>
          </p:cNvPr>
          <p:cNvSpPr txBox="1"/>
          <p:nvPr/>
        </p:nvSpPr>
        <p:spPr>
          <a:xfrm>
            <a:off x="1460500" y="4305300"/>
            <a:ext cx="2286000" cy="30008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300" b="1">
                <a:solidFill>
                  <a:srgbClr val="2E1B17"/>
                </a:solidFill>
                <a:latin typeface="Aptos" panose="020B0004020202020204" pitchFamily="34" charset="0"/>
              </a:rPr>
              <a:t>Tax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24954B-6179-E3D2-4DAB-93B82B12B371}"/>
              </a:ext>
            </a:extLst>
          </p:cNvPr>
          <p:cNvSpPr txBox="1"/>
          <p:nvPr/>
        </p:nvSpPr>
        <p:spPr>
          <a:xfrm>
            <a:off x="4064000" y="4305300"/>
            <a:ext cx="6985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200">
                <a:solidFill>
                  <a:srgbClr val="856B5F"/>
                </a:solidFill>
                <a:latin typeface="Aptos" panose="020B0004020202020204" pitchFamily="34" charset="0"/>
              </a:rPr>
              <a:t>After-tax curves and asset-class tax</a:t>
            </a:r>
            <a:endParaRPr lang="en-IN" sz="12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256DDD-07E7-2863-85F9-959F10F59583}"/>
              </a:ext>
            </a:extLst>
          </p:cNvPr>
          <p:cNvSpPr/>
          <p:nvPr/>
        </p:nvSpPr>
        <p:spPr>
          <a:xfrm>
            <a:off x="889000" y="5041900"/>
            <a:ext cx="304800" cy="304800"/>
          </a:xfrm>
          <a:prstGeom prst="roundRect">
            <a:avLst/>
          </a:prstGeom>
          <a:solidFill>
            <a:srgbClr val="856B5F"/>
          </a:solidFill>
          <a:ln>
            <a:solidFill>
              <a:srgbClr val="856B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BDD99D-9474-74DB-BD35-C4A53C5623A3}"/>
              </a:ext>
            </a:extLst>
          </p:cNvPr>
          <p:cNvSpPr txBox="1"/>
          <p:nvPr/>
        </p:nvSpPr>
        <p:spPr>
          <a:xfrm>
            <a:off x="889000" y="5067300"/>
            <a:ext cx="304800" cy="246221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197F62-C7A8-F7CC-4CB9-2CDE997A15E8}"/>
              </a:ext>
            </a:extLst>
          </p:cNvPr>
          <p:cNvSpPr txBox="1"/>
          <p:nvPr/>
        </p:nvSpPr>
        <p:spPr>
          <a:xfrm>
            <a:off x="1460500" y="5041900"/>
            <a:ext cx="2286000" cy="30008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300" b="1">
                <a:solidFill>
                  <a:srgbClr val="2E1B17"/>
                </a:solidFill>
                <a:latin typeface="Aptos" panose="020B0004020202020204" pitchFamily="34" charset="0"/>
              </a:rPr>
              <a:t>Traceability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14F8DA-9404-608C-A81D-8D67CAB7D778}"/>
              </a:ext>
            </a:extLst>
          </p:cNvPr>
          <p:cNvSpPr txBox="1"/>
          <p:nvPr/>
        </p:nvSpPr>
        <p:spPr>
          <a:xfrm>
            <a:off x="4064000" y="5041900"/>
            <a:ext cx="6985000" cy="276999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200">
                <a:solidFill>
                  <a:srgbClr val="856B5F"/>
                </a:solidFill>
                <a:latin typeface="Aptos" panose="020B0004020202020204" pitchFamily="34" charset="0"/>
              </a:rPr>
              <a:t>API response + cached dataset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C54B27-B9E3-FFAB-D766-BE651944032B}"/>
              </a:ext>
            </a:extLst>
          </p:cNvPr>
          <p:cNvSpPr/>
          <p:nvPr/>
        </p:nvSpPr>
        <p:spPr>
          <a:xfrm>
            <a:off x="12065000" y="2222500"/>
            <a:ext cx="2921000" cy="3111500"/>
          </a:xfrm>
          <a:prstGeom prst="roundRect">
            <a:avLst/>
          </a:prstGeom>
          <a:solidFill>
            <a:srgbClr val="2E1B17"/>
          </a:solidFill>
          <a:ln>
            <a:solidFill>
              <a:srgbClr val="6648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9595B-53DA-159B-032F-FC6FF100234C}"/>
              </a:ext>
            </a:extLst>
          </p:cNvPr>
          <p:cNvSpPr txBox="1"/>
          <p:nvPr/>
        </p:nvSpPr>
        <p:spPr>
          <a:xfrm>
            <a:off x="12446000" y="2603500"/>
            <a:ext cx="2159000" cy="2616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 b="1">
                <a:solidFill>
                  <a:srgbClr val="6AC4E9"/>
                </a:solidFill>
                <a:latin typeface="Aptos" panose="020B0004020202020204" pitchFamily="34" charset="0"/>
              </a:rPr>
              <a:t>LIVE CHECK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C3647F-0362-09FA-6410-D332C986CC1C}"/>
              </a:ext>
            </a:extLst>
          </p:cNvPr>
          <p:cNvSpPr txBox="1"/>
          <p:nvPr/>
        </p:nvSpPr>
        <p:spPr>
          <a:xfrm>
            <a:off x="12446000" y="3048000"/>
            <a:ext cx="2159000" cy="47705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2500" b="1">
                <a:solidFill>
                  <a:srgbClr val="FFFFFF"/>
                </a:solidFill>
                <a:latin typeface="Aptos" panose="020B0004020202020204" pitchFamily="34" charset="0"/>
              </a:rPr>
              <a:t>200 OK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05FC93-95F5-0D21-F894-7BF2645A4171}"/>
              </a:ext>
            </a:extLst>
          </p:cNvPr>
          <p:cNvSpPr txBox="1"/>
          <p:nvPr/>
        </p:nvSpPr>
        <p:spPr>
          <a:xfrm>
            <a:off x="12446000" y="3746500"/>
            <a:ext cx="2032000" cy="7386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400">
                <a:solidFill>
                  <a:srgbClr val="D6C4B7"/>
                </a:solidFill>
                <a:latin typeface="Aptos" panose="020B0004020202020204" pitchFamily="34" charset="0"/>
              </a:rPr>
              <a:t>/health
/api/v1/backtest/
3 tax policies</a:t>
            </a:r>
            <a:endParaRPr lang="en-IN" sz="1400">
              <a:solidFill>
                <a:srgbClr val="D6C4B7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667B83-E38E-9F10-8B24-A681FCEF9A64}"/>
              </a:ext>
            </a:extLst>
          </p:cNvPr>
          <p:cNvSpPr txBox="1"/>
          <p:nvPr/>
        </p:nvSpPr>
        <p:spPr>
          <a:xfrm>
            <a:off x="558800" y="6413500"/>
            <a:ext cx="53340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QUANTPORTFOLIO  /  PHASE 3 EVALUATION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71ECE1-5D65-8EEB-9D53-5A757829BD3B}"/>
              </a:ext>
            </a:extLst>
          </p:cNvPr>
          <p:cNvSpPr txBox="1"/>
          <p:nvPr/>
        </p:nvSpPr>
        <p:spPr>
          <a:xfrm>
            <a:off x="11176000" y="6413500"/>
            <a:ext cx="457200" cy="21544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800" b="1">
                <a:solidFill>
                  <a:srgbClr val="856B5F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685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B52616-53F1-4378-811A-4BEB24547BD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B17"/>
          </a:solidFill>
          <a:ln>
            <a:solidFill>
              <a:srgbClr val="2E1B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28E52-FCD6-64C2-105A-BDB5A0329231}"/>
              </a:ext>
            </a:extLst>
          </p:cNvPr>
          <p:cNvSpPr txBox="1"/>
          <p:nvPr/>
        </p:nvSpPr>
        <p:spPr>
          <a:xfrm>
            <a:off x="698500" y="558800"/>
            <a:ext cx="3810000" cy="261610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 b="1">
                <a:solidFill>
                  <a:srgbClr val="6AC4E9"/>
                </a:solidFill>
                <a:latin typeface="Aptos" panose="020B0004020202020204" pitchFamily="34" charset="0"/>
              </a:rPr>
              <a:t>09 / Close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A29A1-96EA-3E4A-7FC2-085E28BA1375}"/>
              </a:ext>
            </a:extLst>
          </p:cNvPr>
          <p:cNvSpPr txBox="1"/>
          <p:nvPr/>
        </p:nvSpPr>
        <p:spPr>
          <a:xfrm>
            <a:off x="698500" y="1117600"/>
            <a:ext cx="10160000" cy="553998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Phase 3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B8F2A-7521-8317-6048-69F5F59023E3}"/>
              </a:ext>
            </a:extLst>
          </p:cNvPr>
          <p:cNvSpPr txBox="1"/>
          <p:nvPr/>
        </p:nvSpPr>
        <p:spPr>
          <a:xfrm>
            <a:off x="698500" y="2035805"/>
            <a:ext cx="10795000" cy="353943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700">
                <a:solidFill>
                  <a:srgbClr val="D6C4B7"/>
                </a:solidFill>
                <a:latin typeface="Aptos" panose="020B0004020202020204" pitchFamily="34" charset="0"/>
              </a:rPr>
              <a:t>The system now evaluates the portfolio twice: first as an investment strategy, then as a real-world taxable rebalance.</a:t>
            </a:r>
            <a:endParaRPr lang="en-IN" sz="1700">
              <a:solidFill>
                <a:srgbClr val="D6C4B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BECA6D-3CFD-ED1C-E2A2-E54C0BB520A2}"/>
              </a:ext>
            </a:extLst>
          </p:cNvPr>
          <p:cNvSpPr/>
          <p:nvPr/>
        </p:nvSpPr>
        <p:spPr>
          <a:xfrm>
            <a:off x="698500" y="3302000"/>
            <a:ext cx="40005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49F023-B1DB-991D-B5A7-1AC10452A2A4}"/>
              </a:ext>
            </a:extLst>
          </p:cNvPr>
          <p:cNvSpPr/>
          <p:nvPr/>
        </p:nvSpPr>
        <p:spPr>
          <a:xfrm>
            <a:off x="698500" y="3302000"/>
            <a:ext cx="63500" cy="1524000"/>
          </a:xfrm>
          <a:prstGeom prst="rect">
            <a:avLst/>
          </a:prstGeom>
          <a:solidFill>
            <a:srgbClr val="A9B72B"/>
          </a:solidFill>
          <a:ln>
            <a:solidFill>
              <a:srgbClr val="A9B7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5D6B9-6BCA-97A4-E822-9BEE4A38D773}"/>
              </a:ext>
            </a:extLst>
          </p:cNvPr>
          <p:cNvSpPr txBox="1"/>
          <p:nvPr/>
        </p:nvSpPr>
        <p:spPr>
          <a:xfrm>
            <a:off x="927100" y="3479800"/>
            <a:ext cx="36195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Verified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0D29B-ABF9-E59B-F985-528D11D65CC3}"/>
              </a:ext>
            </a:extLst>
          </p:cNvPr>
          <p:cNvSpPr txBox="1"/>
          <p:nvPr/>
        </p:nvSpPr>
        <p:spPr>
          <a:xfrm>
            <a:off x="927100" y="3835400"/>
            <a:ext cx="36195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77 backend tests
5 frontend tests
Frontend build passes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BFA758-5490-2D38-5BCE-F401027CB9F8}"/>
              </a:ext>
            </a:extLst>
          </p:cNvPr>
          <p:cNvSpPr/>
          <p:nvPr/>
        </p:nvSpPr>
        <p:spPr>
          <a:xfrm>
            <a:off x="5080000" y="3302000"/>
            <a:ext cx="40005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22F7D-8C86-B719-888D-539FA42ADC60}"/>
              </a:ext>
            </a:extLst>
          </p:cNvPr>
          <p:cNvSpPr/>
          <p:nvPr/>
        </p:nvSpPr>
        <p:spPr>
          <a:xfrm>
            <a:off x="5080000" y="3302000"/>
            <a:ext cx="63500" cy="1524000"/>
          </a:xfrm>
          <a:prstGeom prst="rect">
            <a:avLst/>
          </a:prstGeom>
          <a:solidFill>
            <a:srgbClr val="588BE9"/>
          </a:solidFill>
          <a:ln>
            <a:solidFill>
              <a:srgbClr val="588B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F3A97-93D6-6EB7-8EA7-C8C710697777}"/>
              </a:ext>
            </a:extLst>
          </p:cNvPr>
          <p:cNvSpPr txBox="1"/>
          <p:nvPr/>
        </p:nvSpPr>
        <p:spPr>
          <a:xfrm>
            <a:off x="5308600" y="3479800"/>
            <a:ext cx="36195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Delivered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73F93-C73D-4600-30AE-9D6079F87249}"/>
              </a:ext>
            </a:extLst>
          </p:cNvPr>
          <p:cNvSpPr txBox="1"/>
          <p:nvPr/>
        </p:nvSpPr>
        <p:spPr>
          <a:xfrm>
            <a:off x="5308600" y="3835400"/>
            <a:ext cx="36195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100">
                <a:solidFill>
                  <a:srgbClr val="856B5F"/>
                </a:solidFill>
                <a:latin typeface="Aptos" panose="020B0004020202020204" pitchFamily="34" charset="0"/>
              </a:rPr>
              <a:t>Backtest comparison
Tax-aware policies
Charts + explanations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4C1BB6-72FA-E0E8-2939-9FA01560301A}"/>
              </a:ext>
            </a:extLst>
          </p:cNvPr>
          <p:cNvSpPr/>
          <p:nvPr/>
        </p:nvSpPr>
        <p:spPr>
          <a:xfrm>
            <a:off x="9461500" y="3302000"/>
            <a:ext cx="40005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EEE4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42466C-E443-DA72-03C3-8A5DB29B0A14}"/>
              </a:ext>
            </a:extLst>
          </p:cNvPr>
          <p:cNvSpPr/>
          <p:nvPr/>
        </p:nvSpPr>
        <p:spPr>
          <a:xfrm>
            <a:off x="9461500" y="3302000"/>
            <a:ext cx="63500" cy="1524000"/>
          </a:xfrm>
          <a:prstGeom prst="rect">
            <a:avLst/>
          </a:prstGeom>
          <a:solidFill>
            <a:srgbClr val="6AC4E9"/>
          </a:solidFill>
          <a:ln>
            <a:solidFill>
              <a:srgbClr val="6AC4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C9088-BBB0-C429-06D8-D3A92A83F48C}"/>
              </a:ext>
            </a:extLst>
          </p:cNvPr>
          <p:cNvSpPr txBox="1"/>
          <p:nvPr/>
        </p:nvSpPr>
        <p:spPr>
          <a:xfrm>
            <a:off x="9690100" y="3479800"/>
            <a:ext cx="3619500" cy="307777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400" b="1">
                <a:solidFill>
                  <a:srgbClr val="2E1B17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D370F-F826-7770-D501-0CC141162FB8}"/>
              </a:ext>
            </a:extLst>
          </p:cNvPr>
          <p:cNvSpPr txBox="1"/>
          <p:nvPr/>
        </p:nvSpPr>
        <p:spPr>
          <a:xfrm>
            <a:off x="9690100" y="3835400"/>
            <a:ext cx="3619500" cy="60016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US" sz="1100">
                <a:solidFill>
                  <a:srgbClr val="856B5F"/>
                </a:solidFill>
                <a:latin typeface="Aptos" panose="020B0004020202020204" pitchFamily="34" charset="0"/>
              </a:rPr>
              <a:t>Live API 200
16/16 cached assets
KOVIT branch ready</a:t>
            </a:r>
            <a:endParaRPr lang="en-IN" sz="1100">
              <a:solidFill>
                <a:srgbClr val="856B5F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136BEA-AD13-215B-4A60-D598E24EFC37}"/>
              </a:ext>
            </a:extLst>
          </p:cNvPr>
          <p:cNvSpPr txBox="1"/>
          <p:nvPr/>
        </p:nvSpPr>
        <p:spPr>
          <a:xfrm>
            <a:off x="698500" y="5842000"/>
            <a:ext cx="5080000" cy="369332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r>
              <a:rPr lang="en-IN" sz="1800" b="1">
                <a:solidFill>
                  <a:srgbClr val="FFFFFF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7145D-6705-0B9E-A6DC-A9EB74883764}"/>
              </a:ext>
            </a:extLst>
          </p:cNvPr>
          <p:cNvSpPr txBox="1"/>
          <p:nvPr/>
        </p:nvSpPr>
        <p:spPr>
          <a:xfrm>
            <a:off x="11430000" y="5842000"/>
            <a:ext cx="3175000" cy="338554"/>
          </a:xfrm>
          <a:prstGeom prst="rect">
            <a:avLst/>
          </a:prstGeom>
          <a:noFill/>
        </p:spPr>
        <p:txBody>
          <a:bodyPr vert="horz" lIns="38100" rIns="38100" rtlCol="0" anchor="ctr">
            <a:spAutoFit/>
          </a:bodyPr>
          <a:lstStyle/>
          <a:p>
            <a:pPr algn="r"/>
            <a:r>
              <a:rPr lang="en-IN" sz="1600" b="1">
                <a:solidFill>
                  <a:srgbClr val="A9B72B"/>
                </a:solidFill>
                <a:latin typeface="Aptos" panose="020B0004020202020204" pitchFamily="34" charset="0"/>
              </a:rPr>
              <a:t>QuantPortfolio</a:t>
            </a:r>
          </a:p>
        </p:txBody>
      </p:sp>
    </p:spTree>
    <p:extLst>
      <p:ext uri="{BB962C8B-B14F-4D97-AF65-F5344CB8AC3E}">
        <p14:creationId xmlns:p14="http://schemas.microsoft.com/office/powerpoint/2010/main" val="2912411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Office PowerPoint</Application>
  <PresentationFormat>On-screen Show (16:9)</PresentationFormat>
  <Paragraphs>166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Kovit Badani</dc:creator>
  <cp:lastModifiedBy>Kovit Badani</cp:lastModifiedBy>
  <cp:revision>1</cp:revision>
  <dcterms:created xsi:type="dcterms:W3CDTF">2026-09-23T15:43:13Z</dcterms:created>
  <dcterms:modified xsi:type="dcterms:W3CDTF">2026-09-23T15:43:13Z</dcterms:modified>
</cp:coreProperties>
</file>